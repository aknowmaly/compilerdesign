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1e946927634661" /><Relationship Type="http://schemas.openxmlformats.org/officeDocument/2006/relationships/extended-properties" Target="/docProps/app.xml" Id="R16a905e3e5d54a1a" /><Relationship Type="http://schemas.openxmlformats.org/officeDocument/2006/relationships/officeDocument" Target="/ppt/presentation.xml" Id="R54572fd4d4984144" /></Relationships>
</file>

<file path=ppt/presentation.xml><?xml version="1.0" encoding="utf-8"?>
<p:presentation xmlns:p="http://schemas.openxmlformats.org/presentationml/2006/main">
  <p:sldMasterIdLst>
    <p:sldMasterId xmlns:r="http://schemas.openxmlformats.org/officeDocument/2006/relationships" id="2147483648" r:id="R74491c8162e043eb"/>
  </p:sldMasterIdLst>
  <p:notesMasterIdLst>
    <p:notesMasterId xmlns:r="http://schemas.openxmlformats.org/officeDocument/2006/relationships" r:id="R191bbb0588a1415e"/>
  </p:notesMasterIdLst>
  <p:sldIdLst>
    <p:sldId xmlns:r="http://schemas.openxmlformats.org/officeDocument/2006/relationships" id="256" r:id="R208afd946230492c"/>
    <p:sldId xmlns:r="http://schemas.openxmlformats.org/officeDocument/2006/relationships" id="257" r:id="R7473b04c47cc4d84"/>
    <p:sldId xmlns:r="http://schemas.openxmlformats.org/officeDocument/2006/relationships" id="258" r:id="R4701468b9c3b45c4"/>
    <p:sldId xmlns:r="http://schemas.openxmlformats.org/officeDocument/2006/relationships" id="259" r:id="R73456c2bd68f457a"/>
    <p:sldId xmlns:r="http://schemas.openxmlformats.org/officeDocument/2006/relationships" id="260" r:id="Rbd7c30d975494596"/>
    <p:sldId xmlns:r="http://schemas.openxmlformats.org/officeDocument/2006/relationships" id="261" r:id="R74caaf24241a4da8"/>
    <p:sldId xmlns:r="http://schemas.openxmlformats.org/officeDocument/2006/relationships" id="262" r:id="Rd642b30e2b0742fc"/>
    <p:sldId xmlns:r="http://schemas.openxmlformats.org/officeDocument/2006/relationships" id="263" r:id="R6f006f726c11414f"/>
    <p:sldId xmlns:r="http://schemas.openxmlformats.org/officeDocument/2006/relationships" id="264" r:id="Rab925d1662dc48b2"/>
    <p:sldId xmlns:r="http://schemas.openxmlformats.org/officeDocument/2006/relationships" id="265" r:id="R3fdb5739f94144cc"/>
    <p:sldId xmlns:r="http://schemas.openxmlformats.org/officeDocument/2006/relationships" id="266" r:id="R1cb65bb4722e4134"/>
    <p:sldId xmlns:r="http://schemas.openxmlformats.org/officeDocument/2006/relationships" id="267" r:id="R1a976a021bd742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23749c9ea94dff" /><Relationship Type="http://schemas.openxmlformats.org/officeDocument/2006/relationships/slideMaster" Target="/ppt/slideMasters/slideMaster1.xml" Id="R74491c8162e043eb" /><Relationship Type="http://schemas.openxmlformats.org/officeDocument/2006/relationships/notesMaster" Target="/ppt/notesMasters/notesMaster1.xml" Id="R191bbb0588a1415e" /><Relationship Type="http://schemas.openxmlformats.org/officeDocument/2006/relationships/presProps" Target="/ppt/presProps.xml" Id="R26116698c74546c3" /><Relationship Type="http://schemas.openxmlformats.org/officeDocument/2006/relationships/tableStyles" Target="/ppt/tableStyles.xml" Id="Ra5e037593cc448d1" /><Relationship Type="http://schemas.openxmlformats.org/officeDocument/2006/relationships/slide" Target="/ppt/slides/slide1.xml" Id="R208afd946230492c" /><Relationship Type="http://schemas.openxmlformats.org/officeDocument/2006/relationships/slide" Target="/ppt/slides/slide2.xml" Id="R7473b04c47cc4d84" /><Relationship Type="http://schemas.openxmlformats.org/officeDocument/2006/relationships/slide" Target="/ppt/slides/slide3.xml" Id="R4701468b9c3b45c4" /><Relationship Type="http://schemas.openxmlformats.org/officeDocument/2006/relationships/slide" Target="/ppt/slides/slide4.xml" Id="R73456c2bd68f457a" /><Relationship Type="http://schemas.openxmlformats.org/officeDocument/2006/relationships/slide" Target="/ppt/slides/slide5.xml" Id="Rbd7c30d975494596" /><Relationship Type="http://schemas.openxmlformats.org/officeDocument/2006/relationships/slide" Target="/ppt/slides/slide6.xml" Id="R74caaf24241a4da8" /><Relationship Type="http://schemas.openxmlformats.org/officeDocument/2006/relationships/slide" Target="/ppt/slides/slide7.xml" Id="Rd642b30e2b0742fc" /><Relationship Type="http://schemas.openxmlformats.org/officeDocument/2006/relationships/slide" Target="/ppt/slides/slide8.xml" Id="R6f006f726c11414f" /><Relationship Type="http://schemas.openxmlformats.org/officeDocument/2006/relationships/slide" Target="/ppt/slides/slide9.xml" Id="Rab925d1662dc48b2" /><Relationship Type="http://schemas.openxmlformats.org/officeDocument/2006/relationships/slide" Target="/ppt/slides/slide10.xml" Id="R3fdb5739f94144cc" /><Relationship Type="http://schemas.openxmlformats.org/officeDocument/2006/relationships/slide" Target="/ppt/slides/slide11.xml" Id="R1cb65bb4722e4134" /><Relationship Type="http://schemas.openxmlformats.org/officeDocument/2006/relationships/slide" Target="/ppt/slides/slide12.xml" Id="R1a976a021bd742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a430ca25084c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6575ae197b4314" /><Relationship Type="http://schemas.openxmlformats.org/officeDocument/2006/relationships/notesMaster" Target="/ppt/notesMasters/notesMaster1.xml" Id="R1ff9c9338fe34c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8ea02862b047ae" /><Relationship Type="http://schemas.openxmlformats.org/officeDocument/2006/relationships/notesMaster" Target="/ppt/notesMasters/notesMaster1.xml" Id="R3e068580d7334d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888cf94d1a48c7" /><Relationship Type="http://schemas.openxmlformats.org/officeDocument/2006/relationships/notesMaster" Target="/ppt/notesMasters/notesMaster1.xml" Id="R3b747464ff4847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a011f9633a457f" /><Relationship Type="http://schemas.openxmlformats.org/officeDocument/2006/relationships/notesMaster" Target="/ppt/notesMasters/notesMaster1.xml" Id="R31e59218ff8d4c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358bcc6c7c4158" /><Relationship Type="http://schemas.openxmlformats.org/officeDocument/2006/relationships/notesMaster" Target="/ppt/notesMasters/notesMaster1.xml" Id="R7df664953b154b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6cf93f5e514706" /><Relationship Type="http://schemas.openxmlformats.org/officeDocument/2006/relationships/notesMaster" Target="/ppt/notesMasters/notesMaster1.xml" Id="Rb78367da01b743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d1c2aeaf9b4497" /><Relationship Type="http://schemas.openxmlformats.org/officeDocument/2006/relationships/notesMaster" Target="/ppt/notesMasters/notesMaster1.xml" Id="R4f7e04d3910d49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79919377eb48db" /><Relationship Type="http://schemas.openxmlformats.org/officeDocument/2006/relationships/notesMaster" Target="/ppt/notesMasters/notesMaster1.xml" Id="Rfa2e83ed3aeb45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b62c50bed24750" /><Relationship Type="http://schemas.openxmlformats.org/officeDocument/2006/relationships/notesMaster" Target="/ppt/notesMasters/notesMaster1.xml" Id="R81287cf1544d42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0559dcce7b4745" /><Relationship Type="http://schemas.openxmlformats.org/officeDocument/2006/relationships/notesMaster" Target="/ppt/notesMasters/notesMaster1.xml" Id="R22cd16c2a7e145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53b1b76e8d4354" /><Relationship Type="http://schemas.openxmlformats.org/officeDocument/2006/relationships/notesMaster" Target="/ppt/notesMasters/notesMaster1.xml" Id="Rb4102f4dffcf45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f76de45b2c4154" /><Relationship Type="http://schemas.openxmlformats.org/officeDocument/2006/relationships/notesMaster" Target="/ppt/notesMasters/notesMaster1.xml" Id="Ref2da9e28d6540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Initial-stage proposal. No final-paper findings or measured project outcomes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400/100 byte example is arithmetic, not a project measurement. LLVM LangRef: https://llvm.org/docs/LangRef.html ; DataLayout: https://llvm.org/doxygen/classllvm_1_1DataLayout.html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objectives and scope boundaries, not completed results. LLVM semantics: https://llvm.org/docs/LangRef.html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same LLVM 18 pipeline without the proposed pass. SROA description: https://llvm.org/docs/Passes.html ; KnownBits: https://llvm.org/doxygen/structllvm_1_1KnownBits.html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Papers 1–10 remain provisional until the original survey is supplied.</a:t>
            </a:r>
          </a:p>
          <a:p xmlns:a="http://schemas.openxmlformats.org/drawingml/2006/main">
            <a:r>
              <a:t/>
            </a:r>
          </a:p>
          <a:p xmlns:a="http://schemas.openxmlformats.org/drawingml/2006/main">
            <a:r>
              <a:t>[2] Cousot and Cousot (1977). Abstract Interpretation: A Unified Lattice Model for Static Analysis of Programs by Construction or Approximation of Fixpoints. POPL. https://doi.org/10.1145/512950.512973</a:t>
            </a:r>
          </a:p>
          <a:p xmlns:a="http://schemas.openxmlformats.org/drawingml/2006/main">
            <a:r>
              <a:t>Review: Formalizes abstract interpretation through sound approximations and fixpoints. It justifies conservative width proofs: an unknown reachable value cannot be assumed to fit a smaller representation.</a:t>
            </a:r>
          </a:p>
          <a:p xmlns:a="http://schemas.openxmlformats.org/drawingml/2006/main">
            <a:r>
              <a:t/>
            </a:r>
          </a:p>
          <a:p xmlns:a="http://schemas.openxmlformats.org/drawingml/2006/main">
            <a:r>
              <a:t>[3] Wegman and Zadeck (1991). Constant Propagation with Conditional Branches. ACM TOPLAS. https://doi.org/10.1145/103135.103136</a:t>
            </a:r>
          </a:p>
          <a:p xmlns:a="http://schemas.openxmlformats.org/drawingml/2006/main">
            <a:r>
              <a:t>Review: Develops sparse conditional constant propagation, using branch information to discover constants. It can refine value facts but does not choose a new storage type for an array or global.</a:t>
            </a:r>
          </a:p>
          <a:p xmlns:a="http://schemas.openxmlformats.org/drawingml/2006/main">
            <a:r>
              <a:t/>
            </a:r>
          </a:p>
          <a:p xmlns:a="http://schemas.openxmlformats.org/drawingml/2006/main">
            <a:r>
              <a:t>[4] Stephenson et al. (2000). Bitwidth Analysis with Application to Silicon Compilation. PLDI. https://doi.org/10.1145/349299.349317</a:t>
            </a:r>
          </a:p>
          <a:p xmlns:a="http://schemas.openxmlformats.org/drawingml/2006/main">
            <a:r>
              <a:t>Review: Bitwise propagates width information forward and backward to minimize operand widths, then applies the result to silicon compilation. It establishes bitwidth inference, while our study asks about complete LLVM memory objects.</a:t>
            </a:r>
          </a:p>
          <a:p xmlns:a="http://schemas.openxmlformats.org/drawingml/2006/main">
            <a:r>
              <a:t/>
            </a:r>
          </a:p>
          <a:p xmlns:a="http://schemas.openxmlformats.org/drawingml/2006/main">
            <a:r>
              <a:t>[5] Budiu et al. (2000). BitValue Inference: Detecting and Exploiting Narrow Bitwidth Computations. Euro-Par. https://doi.org/10.1007/3-540-44520-X_137</a:t>
            </a:r>
          </a:p>
          <a:p xmlns:a="http://schemas.openxmlformats.org/drawingml/2006/main">
            <a:r>
              <a:t>Review: BitValue uses forward and backward dataflow to discover constant and unused bits in C computations. That evidence can suggest candidates, but a memory rewrite also needs pointer-use and load-semantics checks.</a:t>
            </a:r>
          </a:p>
          <a:p xmlns:a="http://schemas.openxmlformats.org/drawingml/2006/main">
            <a:r>
              <a:t/>
            </a:r>
          </a:p>
          <a:p xmlns:a="http://schemas.openxmlformats.org/drawingml/2006/main">
            <a:r>
              <a:t>[6] Lee et al. (2005). MiniBit: Bit-Width Optimization via Affine Arithmetic. DAC. https://doi.org/10.1145/1065579.1065799</a:t>
            </a:r>
          </a:p>
          <a:p xmlns:a="http://schemas.openxmlformats.org/drawingml/2006/main">
            <a:r>
              <a:t>Review: MiniBit uses affine arithmetic to choose integer and fractional bit widths for fixed-point hardware designs. Its precision and circuit-area goals differ from exact integer memory semantics in LLVM.</a:t>
            </a:r>
          </a:p>
          <a:p xmlns:a="http://schemas.openxmlformats.org/drawingml/2006/main">
            <a:r>
              <a:t/>
            </a:r>
          </a:p>
          <a:p xmlns:a="http://schemas.openxmlformats.org/drawingml/2006/main">
            <a:r>
              <a:t>[19] Gort and Anderson (2013). Range and Bitmask Analysis for Hardware Optimization in High-Level Synthesis. ASP-DAC. https://doi.org/10.1109/ASPDAC.2013.6509694</a:t>
            </a:r>
          </a:p>
          <a:p xmlns:a="http://schemas.openxmlformats.org/drawingml/2006/main">
            <a:r>
              <a:t>Review: Combines value-range and bitmask analyses in high-level synthesis to reduce hardware resources. The combined facts are useful for width inference, but the evaluated target is an FPGA circuit.</a:t>
            </a:r>
          </a:p>
          <a:p xmlns:a="http://schemas.openxmlformats.org/drawingml/2006/main">
            <a:r>
              <a:t/>
            </a:r>
          </a:p>
          <a:p xmlns:a="http://schemas.openxmlformats.org/drawingml/2006/main">
            <a:r>
              <a:t>[20] Zhang et al. (2010). Bit-Level Optimization for High-Level Synthesis and FPGA-Based Acceleration. FPGA. https://doi.org/10.1145/1723112.1723124</a:t>
            </a:r>
          </a:p>
          <a:p xmlns:a="http://schemas.openxmlformats.org/drawingml/2006/main">
            <a:r>
              <a:t>Review: Builds a bit-flow graph for bit-level transformations in high-level synthesis and FPGA acceleration. It demonstrates fine-grained bit reasoning, while generated circuits have different storage constraints from LLVM software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Heo et al. (2025) is especially important close prior work; explain the proposed scope precisely.</a:t>
            </a:r>
          </a:p>
          <a:p xmlns:a="http://schemas.openxmlformats.org/drawingml/2006/main">
            <a:r>
              <a:t/>
            </a:r>
          </a:p>
          <a:p xmlns:a="http://schemas.openxmlformats.org/drawingml/2006/main">
            <a:r>
              <a:t>[10] Bhaskaracharya et al. (2016). Automatic Storage Optimization for Arrays. ACM TOPLAS. https://doi.org/10.1145/2845078</a:t>
            </a:r>
          </a:p>
          <a:p xmlns:a="http://schemas.openxmlformats.org/drawingml/2006/main">
            <a:r>
              <a:t>Review: Finds smaller storage mappings for arrays across scheduled loop nests by reusing locations whose value lifetimes do not overlap. This changes array extents and mapping, whereas our proposed pass changes selected element widths.</a:t>
            </a:r>
          </a:p>
          <a:p xmlns:a="http://schemas.openxmlformats.org/drawingml/2006/main">
            <a:r>
              <a:t/>
            </a:r>
          </a:p>
          <a:p xmlns:a="http://schemas.openxmlformats.org/drawingml/2006/main">
            <a:r>
              <a:t>[11] Heo et al. (2025). Bit-Level Compiler Optimization for Ultra Low-Power Embedded Systems. Journal of Systems Architecture. https://doi.org/10.1016/j.sysarc.2025.103546</a:t>
            </a:r>
          </a:p>
          <a:p xmlns:a="http://schemas.openxmlformats.org/drawingml/2006/main">
            <a:r>
              <a:t>Review: Uses LLVM bit-usage analysis and width transformations for narrow embedded processors, including narrower memory accesses. This is close prior art; our study must test a distinct complete-object, target-allocation criterion without claiming to originate LLVM width narrowing.</a:t>
            </a:r>
          </a:p>
          <a:p xmlns:a="http://schemas.openxmlformats.org/drawingml/2006/main">
            <a:r>
              <a:t/>
            </a:r>
          </a:p>
          <a:p xmlns:a="http://schemas.openxmlformats.org/drawingml/2006/main">
            <a:r>
              <a:t>[14] Jain et al. (2019). An Analysis of Executable Size Reduction by LLVM Passes. CSI Transactions on ICT. https://doi.org/10.1007/s40012-019-00248-5</a:t>
            </a:r>
          </a:p>
          <a:p xmlns:a="http://schemas.openxmlformats.org/drawingml/2006/main">
            <a:r>
              <a:t>Review: Studies how LLVM passes affect final executable size. It motivates measuring binary size separately because a narrower IR object need not yield a smaller executable.</a:t>
            </a:r>
          </a:p>
          <a:p xmlns:a="http://schemas.openxmlformats.org/drawingml/2006/main">
            <a:r>
              <a:t/>
            </a:r>
          </a:p>
          <a:p xmlns:a="http://schemas.openxmlformats.org/drawingml/2006/main">
            <a:r>
              <a:t>[15] Cherubin and Agosta (2020). Tools for Reduced Precision Computation: A Survey. ACM Computing Surveys. https://doi.org/10.1145/3381039</a:t>
            </a:r>
          </a:p>
          <a:p xmlns:a="http://schemas.openxmlformats.org/drawingml/2006/main">
            <a:r>
              <a:t>Review: Surveys tools for reduced precision and their automation challenges. Many surveyed uses tolerate numerical error; this project targets exact integer behavior and therefore needs different acceptance rules.</a:t>
            </a:r>
          </a:p>
          <a:p xmlns:a="http://schemas.openxmlformats.org/drawingml/2006/main">
            <a:r>
              <a:t/>
            </a:r>
          </a:p>
          <a:p xmlns:a="http://schemas.openxmlformats.org/drawingml/2006/main">
            <a:r>
              <a:t>[21] Cooprider and Regehr (2007). Offline Compression for On-Chip RAM. PLDI. https://doi.org/10.1145/1250734.1250776</a:t>
            </a:r>
          </a:p>
          <a:p xmlns:a="http://schemas.openxmlformats.org/drawingml/2006/main">
            <a:r>
              <a:t>Review: Uses whole-program value and pointer analysis to pack globals, arrays, and structures for on-chip RAM. It directly motivates storage reduction, but its source-level compression and tradeoffs are broader than our conservative LLVM object rewrite.</a:t>
            </a:r>
          </a:p>
          <a:p xmlns:a="http://schemas.openxmlformats.org/drawingml/2006/main">
            <a:r>
              <a:t/>
            </a:r>
          </a:p>
          <a:p xmlns:a="http://schemas.openxmlformats.org/drawingml/2006/main">
            <a:r>
              <a:t>[28] Zhang and Gupta (2002). Data Compression Transformations for Dynamically Allocated Data Structures. Compiler Construction / LNCS. https://doi.org/10.1007/3-540-45937-5_4</a:t>
            </a:r>
          </a:p>
          <a:p xmlns:a="http://schemas.openxmlformats.org/drawingml/2006/main">
            <a:r>
              <a:t>Review: Compresses fields in dynamically allocated data structures using narrow-data and pointer representations, with processor support. It is relevant memory-compression prior art; heap fields are outside our initial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Target-resource scope is the major comparison: registers and custom circuits versus native LLVM memory objects.</a:t>
            </a:r>
          </a:p>
          <a:p xmlns:a="http://schemas.openxmlformats.org/drawingml/2006/main">
            <a:r>
              <a:t/>
            </a:r>
          </a:p>
          <a:p xmlns:a="http://schemas.openxmlformats.org/drawingml/2006/main">
            <a:r>
              <a:t>[7] Mahlke et al. (2001). Bitwidth Cognizant Architecture Synthesis of Custom Hardware Accelerators. IEEE TCAD. https://doi.org/10.1109/43.959864</a:t>
            </a:r>
          </a:p>
          <a:p xmlns:a="http://schemas.openxmlformats.org/drawingml/2006/main">
            <a:r>
              <a:t>Review: Makes hardware accelerator synthesis aware of operation bitwidths when allocating architectural resources. It supports target-aware reasoning, though its resource is synthesized hardware rather than software memory allocation.</a:t>
            </a:r>
          </a:p>
          <a:p xmlns:a="http://schemas.openxmlformats.org/drawingml/2006/main">
            <a:r>
              <a:t/>
            </a:r>
          </a:p>
          <a:p xmlns:a="http://schemas.openxmlformats.org/drawingml/2006/main">
            <a:r>
              <a:t>[8] Lee et al. (2006). Accuracy-Guaranteed Bit-Width Optimization. IEEE TCAD. https://doi.org/10.1109/TCAD.2006.873887</a:t>
            </a:r>
          </a:p>
          <a:p xmlns:a="http://schemas.openxmlformats.org/drawingml/2006/main">
            <a:r>
              <a:t>Review: Extends bit-width optimization with a guarantee about fixed-point output accuracy. The project instead seeks exact preservation of integer values and memory behavior, without an error budget.</a:t>
            </a:r>
          </a:p>
          <a:p xmlns:a="http://schemas.openxmlformats.org/drawingml/2006/main">
            <a:r>
              <a:t/>
            </a:r>
          </a:p>
          <a:p xmlns:a="http://schemas.openxmlformats.org/drawingml/2006/main">
            <a:r>
              <a:t>[9] Nandivada and Barik (2013). Improved Bitwidth-Aware Variable Packing. ACM TACO. https://doi.org/10.1145/2509420.2509427</a:t>
            </a:r>
          </a:p>
          <a:p xmlns:a="http://schemas.openxmlformats.org/drawingml/2006/main">
            <a:r>
              <a:t>Review: Improves packing of narrow live values into physical registers, including width-aware representations. Register pressure and spills are relevant downstream effects, but the method does not itself narrow array storage.</a:t>
            </a:r>
          </a:p>
          <a:p xmlns:a="http://schemas.openxmlformats.org/drawingml/2006/main">
            <a:r>
              <a:t/>
            </a:r>
          </a:p>
          <a:p xmlns:a="http://schemas.openxmlformats.org/drawingml/2006/main">
            <a:r>
              <a:t>[22] Tallam and Gupta (2003). Bitwidth Aware Global Register Allocation. POPL. https://doi.org/10.1145/604131.604139</a:t>
            </a:r>
          </a:p>
          <a:p xmlns:a="http://schemas.openxmlformats.org/drawingml/2006/main">
            <a:r>
              <a:t>Review: Uses inferred bitwidths to co-locate subword live values in registers. The result concerns register allocation, so it should not be counted as a demonstrated reduction in the bytes allocated for arrays or globals.</a:t>
            </a:r>
          </a:p>
          <a:p xmlns:a="http://schemas.openxmlformats.org/drawingml/2006/main">
            <a:r>
              <a:t/>
            </a:r>
          </a:p>
          <a:p xmlns:a="http://schemas.openxmlformats.org/drawingml/2006/main">
            <a:r>
              <a:t>[23] Canesche et al. (2022). A Polynomial Time Exact Solution to the Bit-Aware Register Binding Problem. Compiler Construction. https://doi.org/10.1145/3497776.3517773</a:t>
            </a:r>
          </a:p>
          <a:p xmlns:a="http://schemas.openxmlformats.org/drawingml/2006/main">
            <a:r>
              <a:t>Review: Provides an exact polynomial-time solution for a bit-aware register-binding problem. It strengthens the evidence for width-sensitive target decisions, but addresses binding rather than LLVM memory-object layout.</a:t>
            </a:r>
          </a:p>
          <a:p xmlns:a="http://schemas.openxmlformats.org/drawingml/2006/main">
            <a:r>
              <a:t/>
            </a:r>
          </a:p>
          <a:p xmlns:a="http://schemas.openxmlformats.org/drawingml/2006/main">
            <a:r>
              <a:t>[24] McMichen et al. (2025). Saving Energy with Per-Variable Bitwidth Speculation. ASPLOS. https://doi.org/10.1145/3676641.3716271</a:t>
            </a:r>
          </a:p>
          <a:p xmlns:a="http://schemas.openxmlformats.org/drawingml/2006/main">
            <a:r>
              <a:t>Review: Selects per-variable widths with profile-guided speculation and compiler–architecture support. It explores performance beyond static proofs; our proposed pass will avoid speculation and preserve behavior through conservative analysis.</a:t>
            </a:r>
          </a:p>
          <a:p xmlns:a="http://schemas.openxmlformats.org/drawingml/2006/main">
            <a:r>
              <a:t/>
            </a:r>
          </a:p>
          <a:p xmlns:a="http://schemas.openxmlformats.org/drawingml/2006/main">
            <a:r>
              <a:t>[25] Li et al. (2005). Speculative Subword Register Allocation in Embedded Processors. LCPC / LNCS. https://doi.org/10.1007/11532378_6</a:t>
            </a:r>
          </a:p>
          <a:p xmlns:a="http://schemas.openxmlformats.org/drawingml/2006/main">
            <a:r>
              <a:t>Review: Speculatively places subword values into register halves with an embedded-processor instruction-set extension. It reduces potential spills, but requires hardware support and targets registers rather than object representation.</a:t>
            </a:r>
          </a:p>
          <a:p xmlns:a="http://schemas.openxmlformats.org/drawingml/2006/main">
            <a:r>
              <a:t/>
            </a:r>
          </a:p>
          <a:p xmlns:a="http://schemas.openxmlformats.org/drawingml/2006/main">
            <a:r>
              <a:t>[26] Cong et al. (2005). Bitwidth-Aware Scheduling and Binding in High-Level Synthesis. ASP-DAC. https://doi.org/10.1145/1120725.1121055</a:t>
            </a:r>
          </a:p>
          <a:p xmlns:a="http://schemas.openxmlformats.org/drawingml/2006/main">
            <a:r>
              <a:t>Review: Includes bitwidth in high-level synthesis scheduling and binding decisions. It shows why target resource models matter, although its output is custom hardware rather than native LLVM object allocation.</a:t>
            </a:r>
          </a:p>
          <a:p xmlns:a="http://schemas.openxmlformats.org/drawingml/2006/main">
            <a:r>
              <a:t/>
            </a:r>
          </a:p>
          <a:p xmlns:a="http://schemas.openxmlformats.org/drawingml/2006/main">
            <a:r>
              <a:t>[27] Bhagat et al. (2011). Global Productiveness Propagation: A Code Optimization Technique to Speculatively Prune Useless Narrow Computations. LCTES. https://doi.org/10.1145/1967677.1967700</a:t>
            </a:r>
          </a:p>
          <a:p xmlns:a="http://schemas.openxmlformats.org/drawingml/2006/main">
            <a:r>
              <a:t>Review: Propagates whether narrow computations are productive so useless work can be pruned speculatively. The target is computation pruning, not a proof that an entire stored object can change 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document gives method, contribution, and boundary for every one of the 30 papers.</a:t>
            </a:r>
          </a:p>
          <a:p xmlns:a="http://schemas.openxmlformats.org/drawingml/2006/main">
            <a:r>
              <a:t/>
            </a:r>
          </a:p>
          <a:p xmlns:a="http://schemas.openxmlformats.org/drawingml/2006/main">
            <a:r>
              <a:t>[1] Lattner and Adve (2004). LLVM: A Compilation Framework for Lifelong Program Analysis and Transformation. CGO. https://doi.org/10.1109/CGO.2004.1281665</a:t>
            </a:r>
          </a:p>
          <a:p xmlns:a="http://schemas.openxmlformats.org/drawingml/2006/main">
            <a:r>
              <a:t>Review: Introduces LLVM as a typed SSA intermediate representation with reusable analysis and transformation infrastructure. It supplies the implementation setting; it does not propose this memory-width decision.</a:t>
            </a:r>
          </a:p>
          <a:p xmlns:a="http://schemas.openxmlformats.org/drawingml/2006/main">
            <a:r>
              <a:t/>
            </a:r>
          </a:p>
          <a:p xmlns:a="http://schemas.openxmlformats.org/drawingml/2006/main">
            <a:r>
              <a:t>[12] Lopes et al. (2021). Alive2: Bounded Translation Validation for LLVM. PLDI. https://doi.org/10.1145/3453483.3454030</a:t>
            </a:r>
          </a:p>
          <a:p xmlns:a="http://schemas.openxmlformats.org/drawingml/2006/main">
            <a:r>
              <a:t>Review: Checks bounded equivalence of LLVM IR transformations using SMT reasoning. It can help validate individual rewrites, but bounded analysis has limits, so differential tests and explicit safety rules remain necessary.</a:t>
            </a:r>
          </a:p>
          <a:p xmlns:a="http://schemas.openxmlformats.org/drawingml/2006/main">
            <a:r>
              <a:t/>
            </a:r>
          </a:p>
          <a:p xmlns:a="http://schemas.openxmlformats.org/drawingml/2006/main">
            <a:r>
              <a:t>[13] Guthaus et al. (2001). MiBench: A Free, Commercially Representative Embedded Benchmark Suite. IEEE WWC. https://doi.org/10.1109/WWC.2001.990739</a:t>
            </a:r>
          </a:p>
          <a:p xmlns:a="http://schemas.openxmlformats.org/drawingml/2006/main">
            <a:r>
              <a:t>Review: Introduces a representative embedded benchmark suite. It offers workloads for planned evaluation, but its existence is not evidence that this proposed pass improves them.</a:t>
            </a:r>
          </a:p>
          <a:p xmlns:a="http://schemas.openxmlformats.org/drawingml/2006/main">
            <a:r>
              <a:t/>
            </a:r>
          </a:p>
          <a:p xmlns:a="http://schemas.openxmlformats.org/drawingml/2006/main">
            <a:r>
              <a:t>[16] Jantz and Kulkarni (2014). Analyzing and Addressing False Interactions During Compiler Optimization Phase Ordering. Software: Practice and Experience. https://doi.org/10.1002/spe.2176</a:t>
            </a:r>
          </a:p>
          <a:p xmlns:a="http://schemas.openxmlformats.org/drawingml/2006/main">
            <a:r>
              <a:t>Review: Analyzes false interactions caused by optimization phase ordering. It motivates comparing pass placement with SROA and related passes rather than treating pipeline order as irrelevant.</a:t>
            </a:r>
          </a:p>
          <a:p xmlns:a="http://schemas.openxmlformats.org/drawingml/2006/main">
            <a:r>
              <a:t/>
            </a:r>
          </a:p>
          <a:p xmlns:a="http://schemas.openxmlformats.org/drawingml/2006/main">
            <a:r>
              <a:t>[17] Zhou et al. (2021). An Empirical Study of Optimization Bugs in GCC and LLVM. Journal of Systems and Software. https://doi.org/10.1016/j.jss.2020.110884</a:t>
            </a:r>
          </a:p>
          <a:p xmlns:a="http://schemas.openxmlformats.org/drawingml/2006/main">
            <a:r>
              <a:t>Review: Empirically studies optimization bugs in GCC and LLVM. It provides a correctness motivation, not a width-selection algorithm, and supports a strong rejection policy for uncertain cases.</a:t>
            </a:r>
          </a:p>
          <a:p xmlns:a="http://schemas.openxmlformats.org/drawingml/2006/main">
            <a:r>
              <a:t/>
            </a:r>
          </a:p>
          <a:p xmlns:a="http://schemas.openxmlformats.org/drawingml/2006/main">
            <a:r>
              <a:t>[18] Even-Mendoza et al. (2022). CsmithEdge: More Effective Compiler Testing by Handling Undefined Behaviour Less Conservatively. Empirical Software Engineering. https://doi.org/10.1007/s10664-022-10146-1</a:t>
            </a:r>
          </a:p>
          <a:p xmlns:a="http://schemas.openxmlformats.org/drawingml/2006/main">
            <a:r>
              <a:t>Review: Improves compiler test generation by handling undefined behavior less conservatively. It informs adversarial test design, but generated tests cannot prove every rewrite correct.</a:t>
            </a:r>
          </a:p>
          <a:p xmlns:a="http://schemas.openxmlformats.org/drawingml/2006/main">
            <a:r>
              <a:t/>
            </a:r>
          </a:p>
          <a:p xmlns:a="http://schemas.openxmlformats.org/drawingml/2006/main">
            <a:r>
              <a:t>[29] Lopes et al. (2015). Provably Correct Peephole Optimizations with Alive. PLDI. https://doi.org/10.1145/2737924.2737965</a:t>
            </a:r>
          </a:p>
          <a:p xmlns:a="http://schemas.openxmlformats.org/drawingml/2006/main">
            <a:r>
              <a:t>Review: Uses the Alive framework to specify and prove local LLVM peephole optimizations. It offers a model for checking rewrite semantics, while a whole memory-object conversion needs additional pointer and layout reasoning.</a:t>
            </a:r>
          </a:p>
          <a:p xmlns:a="http://schemas.openxmlformats.org/drawingml/2006/main">
            <a:r>
              <a:t/>
            </a:r>
          </a:p>
          <a:p xmlns:a="http://schemas.openxmlformats.org/drawingml/2006/main">
            <a:r>
              <a:t>[30] Yang et al. (2011). Finding and Understanding Bugs in C Compilers. PLDI. https://doi.org/10.1145/1993498.1993532</a:t>
            </a:r>
          </a:p>
          <a:p xmlns:a="http://schemas.openxmlformats.org/drawingml/2006/main">
            <a:r>
              <a:t>Review: Uses randomized C programs to expose wrong-code compiler bugs. It motivates differential execution of baseline and transformed programs, while testing remains finite evidence rather than a universal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Heo et al.: https://doi.org/10.1016/j.sysarc.2025.103546 ; target size: https://llvm.org/doxygen/classllvm_1_1DataLayout.html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ten planned design/evaluation differentiators, not ten independent invention claims. Prior work on width inference and narrow memory accesses is acknowledged.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Alive2: https://doi.org/10.1145/3453483.3454030 ; MiBench: https://doi.org/10.1109/WWC.2001.990739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document contains the complete eleven-question faculty Q&amp;A.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4ea7ffbd5741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2c9ba5a01e400d" /><Relationship Type="http://schemas.openxmlformats.org/officeDocument/2006/relationships/slideLayout" Target="/ppt/slideLayouts/slideLayout1.xml" Id="R2eb4cbf355134f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b4cbf355134f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ede13045ba4147" /><Relationship Type="http://schemas.openxmlformats.org/officeDocument/2006/relationships/notesSlide" Target="/ppt/notesSlides/notesSlide1.xml" Id="Rdccc535c741d4b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64544da1c44828" /><Relationship Type="http://schemas.openxmlformats.org/officeDocument/2006/relationships/notesSlide" Target="/ppt/notesSlides/notesSlide2.xml" Id="R342cca0150d84b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72bd2af1ed4c02" /><Relationship Type="http://schemas.openxmlformats.org/officeDocument/2006/relationships/notesSlide" Target="/ppt/notesSlides/notesSlide3.xml" Id="R32b5c8cd3ce344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1ffb6ba3014a80" /><Relationship Type="http://schemas.openxmlformats.org/officeDocument/2006/relationships/notesSlide" Target="/ppt/notesSlides/notesSlide4.xml" Id="R61660d1ce5e34f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6af762cd844b00" /><Relationship Type="http://schemas.openxmlformats.org/officeDocument/2006/relationships/notesSlide" Target="/ppt/notesSlides/notesSlide5.xml" Id="R529f4b90e0a048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fedd0aabcd4d6a" /><Relationship Type="http://schemas.openxmlformats.org/officeDocument/2006/relationships/notesSlide" Target="/ppt/notesSlides/notesSlide6.xml" Id="R85c87f0809a948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9c299b47844c17" /><Relationship Type="http://schemas.openxmlformats.org/officeDocument/2006/relationships/notesSlide" Target="/ppt/notesSlides/notesSlide7.xml" Id="R31c945f90f864d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764b93d58646da" /><Relationship Type="http://schemas.openxmlformats.org/officeDocument/2006/relationships/notesSlide" Target="/ppt/notesSlides/notesSlide8.xml" Id="R6ddf2a5e3f9b49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405862415948d0" /><Relationship Type="http://schemas.openxmlformats.org/officeDocument/2006/relationships/notesSlide" Target="/ppt/notesSlides/notesSlide9.xml" Id="R63d7ba04cc4c42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67a9339e224c78" /><Relationship Type="http://schemas.openxmlformats.org/officeDocument/2006/relationships/notesSlide" Target="/ppt/notesSlides/notesSlide10.xml" Id="R9738bd5ce55a44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4fbbfcc4304e78" /><Relationship Type="http://schemas.openxmlformats.org/officeDocument/2006/relationships/notesSlide" Target="/ppt/notesSlides/notesSlide11.xml" Id="Re40e3fe671c94a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a3887f06ff4d87" /><Relationship Type="http://schemas.openxmlformats.org/officeDocument/2006/relationships/notesSlide" Target="/ppt/notesSlides/notesSlide12.xml" Id="R7dd53b84dd284fdf" /></Relationships>
</file>

<file path=ppt/slides/slide1.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B69E6B-2A4B-48DA-A6F3-C6D5583098FF}"/>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142434"/>
                </a:solidFill>
                <a:latin typeface="Aptos"/>
                <a:ea typeface="Aptos"/>
                <a:cs typeface="Aptos"/>
              </a:defRPr>
            </a:pPr>
            <a:r>
              <a:rPr sz="3300" b="1">
                <a:solidFill>
                  <a:srgbClr val="142434"/>
                </a:solidFill>
                <a:latin typeface="Aptos"/>
                <a:ea typeface="Aptos"/>
                <a:cs typeface="Aptos"/>
              </a:rPr>
              <a:t>Compiler Design · Review 1</a:t>
            </a:r>
          </a:p>
        </p:txBody>
      </p:sp>
      <p:sp>
        <p:nvSpPr>
          <p:cNvPr id="2" name="">
            <a:extLst xmlns:a="http://schemas.openxmlformats.org/drawingml/2006/main">
              <a:ext uri="{FF2B5EF4-FFF2-40B4-BE49-F238E27FC236}">
                <a16:creationId xmlns:a16="http://schemas.microsoft.com/office/drawing/2014/main" id="{298767BE-DEBE-4ECA-AD13-C18EDA9E7AD9}"/>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5C170FDB-D61A-4C24-B6EC-94EF89061DAC}"/>
              </a:ext>
            </a:extLst>
          </p:cNvPr>
          <p:cNvSpPr>
            <a:spLocks xmlns:a="http://schemas.openxmlformats.org/drawingml/2006/main" noGrp="1"/>
          </p:cNvSpPr>
          <p:nvPr/>
        </p:nvSpPr>
        <p:spPr>
          <a:xfrm xmlns:a="http://schemas.openxmlformats.org/drawingml/2006/main">
            <a:off x="714375" y="266700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1">
                <a:solidFill>
                  <a:srgbClr val="142434"/>
                </a:solidFill>
                <a:latin typeface="Aptos"/>
                <a:ea typeface="Aptos"/>
                <a:cs typeface="Aptos"/>
              </a:defRPr>
            </a:pPr>
            <a:r>
              <a:rPr sz="2175" b="1">
                <a:solidFill>
                  <a:srgbClr val="142434"/>
                </a:solidFill>
                <a:latin typeface="Aptos"/>
                <a:ea typeface="Aptos"/>
                <a:cs typeface="Aptos"/>
              </a:rPr>
              <a:t>Target-aware conservative width narrowing of LLVM memory objects</a:t>
            </a:r>
          </a:p>
        </p:txBody>
      </p:sp>
      <p:sp>
        <p:nvSpPr>
          <p:cNvPr id="4" name="">
            <a:extLst xmlns:a="http://schemas.openxmlformats.org/drawingml/2006/main">
              <a:ext uri="{FF2B5EF4-FFF2-40B4-BE49-F238E27FC236}">
                <a16:creationId xmlns:a16="http://schemas.microsoft.com/office/drawing/2014/main" id="{1E4BA158-8223-475C-8891-9763C21FB937}"/>
              </a:ext>
            </a:extLst>
          </p:cNvPr>
          <p:cNvSpPr>
            <a:spLocks xmlns:a="http://schemas.openxmlformats.org/drawingml/2006/main" noGrp="1"/>
          </p:cNvSpPr>
          <p:nvPr/>
        </p:nvSpPr>
        <p:spPr>
          <a:xfrm xmlns:a="http://schemas.openxmlformats.org/drawingml/2006/main">
            <a:off x="714375" y="35623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426070"/>
                </a:solidFill>
                <a:latin typeface="Aptos"/>
                <a:ea typeface="Aptos"/>
                <a:cs typeface="Aptos"/>
              </a:defRPr>
            </a:pPr>
            <a:r>
              <a:rPr sz="1575" b="0">
                <a:solidFill>
                  <a:srgbClr val="426070"/>
                </a:solidFill>
                <a:latin typeface="Aptos"/>
                <a:ea typeface="Aptos"/>
                <a:cs typeface="Aptos"/>
              </a:rPr>
              <a:t>Research proposal · LLVM 18 · selected stack arrays and private globals</a:t>
            </a:r>
          </a:p>
        </p:txBody>
      </p:sp>
    </p:spTree>
    <p:extLst>
      <p:ext uri="{BB962C8B-B14F-4D97-AF65-F5344CB8AC3E}">
        <p14:creationId xmlns:p14="http://schemas.microsoft.com/office/powerpoint/2010/main" val="999556499"/>
      </p:ext>
    </p:extLst>
  </p:cSld>
</p:sld>
</file>

<file path=ppt/slides/slide2.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509470-970C-4AFE-A67B-1DF9380191A1}"/>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Problem statement and technical idea</a:t>
            </a:r>
          </a:p>
        </p:txBody>
      </p:sp>
      <p:sp>
        <p:nvSpPr>
          <p:cNvPr id="2" name="">
            <a:extLst xmlns:a="http://schemas.openxmlformats.org/drawingml/2006/main">
              <a:ext uri="{FF2B5EF4-FFF2-40B4-BE49-F238E27FC236}">
                <a16:creationId xmlns:a16="http://schemas.microsoft.com/office/drawing/2014/main" id="{1AEC9699-5DCD-4AAB-9097-87EC3A665EB7}"/>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83A745FA-BB0E-419D-811D-C1C533D28F08}"/>
              </a:ext>
            </a:extLst>
          </p:cNvPr>
          <p:cNvSpPr>
            <a:spLocks xmlns:a="http://schemas.openxmlformats.org/drawingml/2006/main" noGrp="1"/>
          </p:cNvSpPr>
          <p:nvPr/>
        </p:nvSpPr>
        <p:spPr>
          <a:xfrm xmlns:a="http://schemas.openxmlformats.org/drawingml/2006/main">
            <a:off x="714375" y="13906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006E74"/>
                </a:solidFill>
                <a:latin typeface="Aptos"/>
                <a:ea typeface="Aptos"/>
                <a:cs typeface="Aptos"/>
              </a:defRPr>
            </a:pPr>
            <a:r>
              <a:rPr sz="1613" b="0">
                <a:solidFill>
                  <a:srgbClr val="006E74"/>
                </a:solidFill>
                <a:latin typeface="Aptos"/>
                <a:ea typeface="Aptos"/>
                <a:cs typeface="Aptos"/>
              </a:rPr>
              <a:t>Wide integer types can reserve more storage than reachable values need.</a:t>
            </a:r>
          </a:p>
        </p:txBody>
      </p:sp>
      <p:sp>
        <p:nvSpPr>
          <p:cNvPr id="4" name="">
            <a:extLst xmlns:a="http://schemas.openxmlformats.org/drawingml/2006/main">
              <a:ext uri="{FF2B5EF4-FFF2-40B4-BE49-F238E27FC236}">
                <a16:creationId xmlns:a16="http://schemas.microsoft.com/office/drawing/2014/main" id="{47644F6F-64DE-4005-8743-DA2C8DD014D9}"/>
              </a:ext>
            </a:extLst>
          </p:cNvPr>
          <p:cNvSpPr>
            <a:spLocks xmlns:a="http://schemas.openxmlformats.org/drawingml/2006/main" noGrp="1"/>
          </p:cNvSpPr>
          <p:nvPr/>
        </p:nvSpPr>
        <p:spPr>
          <a:xfrm xmlns:a="http://schemas.openxmlformats.org/drawingml/2006/main">
            <a:off x="714375" y="22669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Example: 100 i32 elements declare 400 bytes; i8 would declare 100 bytes if every value fits 0–255.</a:t>
            </a:r>
          </a:p>
        </p:txBody>
      </p:sp>
      <p:sp>
        <p:nvSpPr>
          <p:cNvPr id="5" name="">
            <a:extLst xmlns:a="http://schemas.openxmlformats.org/drawingml/2006/main">
              <a:ext uri="{FF2B5EF4-FFF2-40B4-BE49-F238E27FC236}">
                <a16:creationId xmlns:a16="http://schemas.microsoft.com/office/drawing/2014/main" id="{3BB5692B-D03D-488B-8901-43CB36DC9043}"/>
              </a:ext>
            </a:extLst>
          </p:cNvPr>
          <p:cNvSpPr>
            <a:spLocks xmlns:a="http://schemas.openxmlformats.org/drawingml/2006/main" noGrp="1"/>
          </p:cNvSpPr>
          <p:nvPr/>
        </p:nvSpPr>
        <p:spPr>
          <a:xfrm xmlns:a="http://schemas.openxmlformats.org/drawingml/2006/main">
            <a:off x="714375" y="31432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A smaller type is legal only if all stores, loads, pointer uses, and signedness semantics remain valid.</a:t>
            </a:r>
          </a:p>
        </p:txBody>
      </p:sp>
      <p:sp>
        <p:nvSpPr>
          <p:cNvPr id="6" name="">
            <a:extLst xmlns:a="http://schemas.openxmlformats.org/drawingml/2006/main">
              <a:ext uri="{FF2B5EF4-FFF2-40B4-BE49-F238E27FC236}">
                <a16:creationId xmlns:a16="http://schemas.microsoft.com/office/drawing/2014/main" id="{98F87CA2-26C2-4115-91CC-3BC7B65B2FAD}"/>
              </a:ext>
            </a:extLst>
          </p:cNvPr>
          <p:cNvSpPr>
            <a:spLocks xmlns:a="http://schemas.openxmlformats.org/drawingml/2006/main" noGrp="1"/>
          </p:cNvSpPr>
          <p:nvPr/>
        </p:nvSpPr>
        <p:spPr>
          <a:xfrm xmlns:a="http://schemas.openxmlformats.org/drawingml/2006/main">
            <a:off x="714375" y="40195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Proposed question: when can LLVM narrow a complete memory object safely and usefully?</a:t>
            </a:r>
          </a:p>
        </p:txBody>
      </p:sp>
      <p:sp>
        <p:nvSpPr>
          <p:cNvPr id="7" name="">
            <a:extLst xmlns:a="http://schemas.openxmlformats.org/drawingml/2006/main">
              <a:ext uri="{FF2B5EF4-FFF2-40B4-BE49-F238E27FC236}">
                <a16:creationId xmlns:a16="http://schemas.microsoft.com/office/drawing/2014/main" id="{34317351-48F9-452A-8060-95255CDBB4E6}"/>
              </a:ext>
            </a:extLst>
          </p:cNvPr>
          <p:cNvSpPr>
            <a:spLocks xmlns:a="http://schemas.openxmlformats.org/drawingml/2006/main" noGrp="1"/>
          </p:cNvSpPr>
          <p:nvPr/>
        </p:nvSpPr>
        <p:spPr>
          <a:xfrm xmlns:a="http://schemas.openxmlformats.org/drawingml/2006/main">
            <a:off x="714375" y="48958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A smaller IR type does not guarantee a smaller target allocation or faster code.</a:t>
            </a:r>
          </a:p>
        </p:txBody>
      </p:sp>
    </p:spTree>
    <p:extLst>
      <p:ext uri="{BB962C8B-B14F-4D97-AF65-F5344CB8AC3E}">
        <p14:creationId xmlns:p14="http://schemas.microsoft.com/office/powerpoint/2010/main" val="772747255"/>
      </p:ext>
    </p:extLst>
  </p:cSld>
</p:sld>
</file>

<file path=ppt/slides/slide3.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75B6ED-0D6D-451C-857C-B6CCACCCB156}"/>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Objectives and initial scope</a:t>
            </a:r>
          </a:p>
        </p:txBody>
      </p:sp>
      <p:sp>
        <p:nvSpPr>
          <p:cNvPr id="2" name="">
            <a:extLst xmlns:a="http://schemas.openxmlformats.org/drawingml/2006/main">
              <a:ext uri="{FF2B5EF4-FFF2-40B4-BE49-F238E27FC236}">
                <a16:creationId xmlns:a16="http://schemas.microsoft.com/office/drawing/2014/main" id="{9463872D-10E3-4C58-B378-7D5707020CCA}"/>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1CFEF64D-2C60-4823-8729-D41ED21E8505}"/>
              </a:ext>
            </a:extLst>
          </p:cNvPr>
          <p:cNvSpPr>
            <a:spLocks xmlns:a="http://schemas.openxmlformats.org/drawingml/2006/main" noGrp="1"/>
          </p:cNvSpPr>
          <p:nvPr/>
        </p:nvSpPr>
        <p:spPr>
          <a:xfrm xmlns:a="http://schemas.openxmlformats.org/drawingml/2006/main">
            <a:off x="714375" y="13906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006E74"/>
                </a:solidFill>
                <a:latin typeface="Aptos"/>
                <a:ea typeface="Aptos"/>
                <a:cs typeface="Aptos"/>
              </a:defRPr>
            </a:pPr>
            <a:r>
              <a:rPr sz="1500" b="0">
                <a:solidFill>
                  <a:srgbClr val="006E74"/>
                </a:solidFill>
                <a:latin typeface="Aptos"/>
                <a:ea typeface="Aptos"/>
                <a:cs typeface="Aptos"/>
              </a:rPr>
              <a:t>Infer a conservative smaller element width for selected integer arrays and internal/private globals.</a:t>
            </a:r>
          </a:p>
        </p:txBody>
      </p:sp>
      <p:sp>
        <p:nvSpPr>
          <p:cNvPr id="4" name="">
            <a:extLst xmlns:a="http://schemas.openxmlformats.org/drawingml/2006/main">
              <a:ext uri="{FF2B5EF4-FFF2-40B4-BE49-F238E27FC236}">
                <a16:creationId xmlns:a16="http://schemas.microsoft.com/office/drawing/2014/main" id="{4064D10D-0985-45E1-992B-49A348A49C74}"/>
              </a:ext>
            </a:extLst>
          </p:cNvPr>
          <p:cNvSpPr>
            <a:spLocks xmlns:a="http://schemas.openxmlformats.org/drawingml/2006/main" noGrp="1"/>
          </p:cNvSpPr>
          <p:nvPr/>
        </p:nvSpPr>
        <p:spPr>
          <a:xfrm xmlns:a="http://schemas.openxmlformats.org/drawingml/2006/main">
            <a:off x="714375" y="2143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Preserve observable values by proving the needed zero extension or sign extension after loads.</a:t>
            </a:r>
          </a:p>
        </p:txBody>
      </p:sp>
      <p:sp>
        <p:nvSpPr>
          <p:cNvPr id="5" name="">
            <a:extLst xmlns:a="http://schemas.openxmlformats.org/drawingml/2006/main">
              <a:ext uri="{FF2B5EF4-FFF2-40B4-BE49-F238E27FC236}">
                <a16:creationId xmlns:a16="http://schemas.microsoft.com/office/drawing/2014/main" id="{502FBD37-FEB3-442A-BFF3-C91DBA9853E2}"/>
              </a:ext>
            </a:extLst>
          </p:cNvPr>
          <p:cNvSpPr>
            <a:spLocks xmlns:a="http://schemas.openxmlformats.org/drawingml/2006/main" noGrp="1"/>
          </p:cNvSpPr>
          <p:nvPr/>
        </p:nvSpPr>
        <p:spPr>
          <a:xfrm xmlns:a="http://schemas.openxmlformats.org/drawingml/2006/main">
            <a:off x="714375" y="28956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Reject escaping pointers, unknown stores, externally visible layouts, and volatile/atomic accesses.</a:t>
            </a:r>
          </a:p>
        </p:txBody>
      </p:sp>
      <p:sp>
        <p:nvSpPr>
          <p:cNvPr id="6" name="">
            <a:extLst xmlns:a="http://schemas.openxmlformats.org/drawingml/2006/main">
              <a:ext uri="{FF2B5EF4-FFF2-40B4-BE49-F238E27FC236}">
                <a16:creationId xmlns:a16="http://schemas.microsoft.com/office/drawing/2014/main" id="{7180EA54-9FD4-4B5C-9C6D-C7EE833C2F59}"/>
              </a:ext>
            </a:extLst>
          </p:cNvPr>
          <p:cNvSpPr>
            <a:spLocks xmlns:a="http://schemas.openxmlformats.org/drawingml/2006/main" noGrp="1"/>
          </p:cNvSpPr>
          <p:nvPr/>
        </p:nvSpPr>
        <p:spPr>
          <a:xfrm xmlns:a="http://schemas.openxmlformats.org/drawingml/2006/main">
            <a:off x="714375" y="36480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Accept a rewrite only when the target reports a smaller complete-object allocation.</a:t>
            </a:r>
          </a:p>
        </p:txBody>
      </p:sp>
      <p:sp>
        <p:nvSpPr>
          <p:cNvPr id="7" name="">
            <a:extLst xmlns:a="http://schemas.openxmlformats.org/drawingml/2006/main">
              <a:ext uri="{FF2B5EF4-FFF2-40B4-BE49-F238E27FC236}">
                <a16:creationId xmlns:a16="http://schemas.microsoft.com/office/drawing/2014/main" id="{A383E592-CAF5-4535-B6F0-3E26E006A7EE}"/>
              </a:ext>
            </a:extLst>
          </p:cNvPr>
          <p:cNvSpPr>
            <a:spLocks xmlns:a="http://schemas.openxmlformats.org/drawingml/2006/main" noGrp="1"/>
          </p:cNvSpPr>
          <p:nvPr/>
        </p:nvSpPr>
        <p:spPr>
          <a:xfrm xmlns:a="http://schemas.openxmlformats.org/drawingml/2006/main">
            <a:off x="714375" y="44005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Evaluate correctness, candidate coverage, code size, and runtime against unchanged LLVM 18.</a:t>
            </a:r>
          </a:p>
        </p:txBody>
      </p:sp>
      <p:sp>
        <p:nvSpPr>
          <p:cNvPr id="8" name="">
            <a:extLst xmlns:a="http://schemas.openxmlformats.org/drawingml/2006/main">
              <a:ext uri="{FF2B5EF4-FFF2-40B4-BE49-F238E27FC236}">
                <a16:creationId xmlns:a16="http://schemas.microsoft.com/office/drawing/2014/main" id="{F38C06E4-F895-4DFD-95BA-7D4FB4D78C16}"/>
              </a:ext>
            </a:extLst>
          </p:cNvPr>
          <p:cNvSpPr>
            <a:spLocks xmlns:a="http://schemas.openxmlformats.org/drawingml/2006/main" noGrp="1"/>
          </p:cNvSpPr>
          <p:nvPr/>
        </p:nvSpPr>
        <p:spPr>
          <a:xfrm xmlns:a="http://schemas.openxmlformats.org/drawingml/2006/main">
            <a:off x="714375" y="51530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Initial scope excludes heap objects, structures, vector objects, and approximate precision.</a:t>
            </a:r>
          </a:p>
        </p:txBody>
      </p:sp>
    </p:spTree>
    <p:extLst>
      <p:ext uri="{BB962C8B-B14F-4D97-AF65-F5344CB8AC3E}">
        <p14:creationId xmlns:p14="http://schemas.microsoft.com/office/powerpoint/2010/main" val="1001738587"/>
      </p:ext>
    </p:extLst>
  </p:cSld>
</p:sld>
</file>

<file path=ppt/slides/slide4.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B84727-1510-4F04-97B7-5C17791E5448}"/>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Existing system vs proposed work</a:t>
            </a:r>
          </a:p>
        </p:txBody>
      </p:sp>
      <p:sp>
        <p:nvSpPr>
          <p:cNvPr id="2" name="">
            <a:extLst xmlns:a="http://schemas.openxmlformats.org/drawingml/2006/main">
              <a:ext uri="{FF2B5EF4-FFF2-40B4-BE49-F238E27FC236}">
                <a16:creationId xmlns:a16="http://schemas.microsoft.com/office/drawing/2014/main" id="{400FD94A-9217-4BC5-925E-2A773AFE8906}"/>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04</a:t>
            </a:r>
          </a:p>
        </p:txBody>
      </p:sp>
      <p:graphicFrame>
        <p:nvGraphicFramePr>
          <p:cNvPr id="6" name=""/>
          <p:cNvGraphicFramePr/>
          <p:nvPr/>
        </p:nvGraphicFramePr>
        <p:xfrm>
          <a:off xmlns:a="http://schemas.openxmlformats.org/drawingml/2006/main" x="666750" y="1381125"/>
          <a:ext xmlns:a="http://schemas.openxmlformats.org/drawingml/2006/main" cx="10763250" cy="4381500"/>
        </p:xfrm>
        <a:graphic xmlns:a="http://schemas.openxmlformats.org/drawingml/2006/main">
          <a:graphicData uri="http://schemas.openxmlformats.org/drawingml/2006/table">
            <a:tbl>
              <a:tblPr firstRow="1"/>
              <a:tblGrid>
                <a:gridCol w="1809750"/>
                <a:gridCol w="4048125"/>
                <a:gridCol w="4905375"/>
              </a:tblGrid>
              <a:tr h="876300">
                <a:tc>
                  <a:txBody>
                    <a:bodyPr/>
                    <a:lstStyle/>
                    <a:p>
                      <a:r>
                        <a:rPr sz="1425" b="1">
                          <a:solidFill>
                            <a:srgbClr val="006E74"/>
                          </a:solidFill>
                        </a:rPr>
                        <a:t>Decision</a:t>
                      </a:r>
                    </a:p>
                  </a:txBody>
                  <a:tcPr marL="91440" marR="91440" marT="45720" marB="45720"/>
                </a:tc>
                <a:tc>
                  <a:txBody>
                    <a:bodyPr/>
                    <a:lstStyle/>
                    <a:p>
                      <a:r>
                        <a:rPr sz="1425" b="1">
                          <a:solidFill>
                            <a:srgbClr val="006E74"/>
                          </a:solidFill>
                        </a:rPr>
                        <a:t>Existing LLVM baseline</a:t>
                      </a:r>
                    </a:p>
                  </a:txBody>
                  <a:tcPr marL="91440" marR="91440" marT="45720" marB="45720"/>
                </a:tc>
                <a:tc>
                  <a:txBody>
                    <a:bodyPr/>
                    <a:lstStyle/>
                    <a:p>
                      <a:r>
                        <a:rPr sz="1425" b="1">
                          <a:solidFill>
                            <a:srgbClr val="006E74"/>
                          </a:solidFill>
                        </a:rPr>
                        <a:t>Proposed study</a:t>
                      </a:r>
                    </a:p>
                  </a:txBody>
                  <a:tcPr marL="91440" marR="91440" marT="45720" marB="45720"/>
                </a:tc>
              </a:tr>
              <a:tr h="876300">
                <a:tc>
                  <a:txBody>
                    <a:bodyPr/>
                    <a:lstStyle/>
                    <a:p>
                      <a:r>
                        <a:rPr sz="1425"/>
                        <a:t>Decision unit</a:t>
                      </a:r>
                    </a:p>
                  </a:txBody>
                  <a:tcPr marL="91440" marR="91440" marT="45720" marB="45720"/>
                </a:tc>
                <a:tc>
                  <a:txBody>
                    <a:bodyPr/>
                    <a:lstStyle/>
                    <a:p>
                      <a:r>
                        <a:rPr sz="1425"/>
                        <a:t>Scalar values and promotable allocas</a:t>
                      </a:r>
                    </a:p>
                  </a:txBody>
                  <a:tcPr marL="91440" marR="91440" marT="45720" marB="45720"/>
                </a:tc>
                <a:tc>
                  <a:txBody>
                    <a:bodyPr/>
                    <a:lstStyle/>
                    <a:p>
                      <a:r>
                        <a:rPr sz="1425"/>
                        <a:t>Selected complete memory objects</a:t>
                      </a:r>
                    </a:p>
                  </a:txBody>
                  <a:tcPr marL="91440" marR="91440" marT="45720" marB="45720"/>
                </a:tc>
              </a:tr>
              <a:tr h="876300">
                <a:tc>
                  <a:txBody>
                    <a:bodyPr/>
                    <a:lstStyle/>
                    <a:p>
                      <a:r>
                        <a:rPr sz="1425"/>
                        <a:t>Width choice</a:t>
                      </a:r>
                    </a:p>
                  </a:txBody>
                  <a:tcPr marL="91440" marR="91440" marT="45720" marB="45720"/>
                </a:tc>
                <a:tc>
                  <a:txBody>
                    <a:bodyPr/>
                    <a:lstStyle/>
                    <a:p>
                      <a:r>
                        <a:rPr sz="1425"/>
                        <a:t>General LLVM simplification</a:t>
                      </a:r>
                    </a:p>
                  </a:txBody>
                  <a:tcPr marL="91440" marR="91440" marT="45720" marB="45720"/>
                </a:tc>
                <a:tc>
                  <a:txBody>
                    <a:bodyPr/>
                    <a:lstStyle/>
                    <a:p>
                      <a:r>
                        <a:rPr sz="1425"/>
                        <a:t>Proven stored range and bit facts</a:t>
                      </a:r>
                    </a:p>
                  </a:txBody>
                  <a:tcPr marL="91440" marR="91440" marT="45720" marB="45720"/>
                </a:tc>
              </a:tr>
              <a:tr h="876300">
                <a:tc>
                  <a:txBody>
                    <a:bodyPr/>
                    <a:lstStyle/>
                    <a:p>
                      <a:r>
                        <a:rPr sz="1425"/>
                        <a:t>Target rule</a:t>
                      </a:r>
                    </a:p>
                  </a:txBody>
                  <a:tcPr marL="91440" marR="91440" marT="45720" marB="45720"/>
                </a:tc>
                <a:tc>
                  <a:txBody>
                    <a:bodyPr/>
                    <a:lstStyle/>
                    <a:p>
                      <a:r>
                        <a:rPr sz="1425"/>
                        <a:t>Normal target lowering</a:t>
                      </a:r>
                    </a:p>
                  </a:txBody>
                  <a:tcPr marL="91440" marR="91440" marT="45720" marB="45720"/>
                </a:tc>
                <a:tc>
                  <a:txBody>
                    <a:bodyPr/>
                    <a:lstStyle/>
                    <a:p>
                      <a:r>
                        <a:rPr sz="1425"/>
                        <a:t>Explicit allocation-size gate</a:t>
                      </a:r>
                    </a:p>
                  </a:txBody>
                  <a:tcPr marL="91440" marR="91440" marT="45720" marB="45720"/>
                </a:tc>
              </a:tr>
              <a:tr h="876300">
                <a:tc>
                  <a:txBody>
                    <a:bodyPr/>
                    <a:lstStyle/>
                    <a:p>
                      <a:r>
                        <a:rPr sz="1425"/>
                        <a:t>Evidence</a:t>
                      </a:r>
                    </a:p>
                  </a:txBody>
                  <a:tcPr marL="91440" marR="91440" marT="45720" marB="45720"/>
                </a:tc>
                <a:tc>
                  <a:txBody>
                    <a:bodyPr/>
                    <a:lstStyle/>
                    <a:p>
                      <a:r>
                        <a:rPr sz="1425"/>
                        <a:t>Standard compiler tests</a:t>
                      </a:r>
                    </a:p>
                  </a:txBody>
                  <a:tcPr marL="91440" marR="91440" marT="45720" marB="45720"/>
                </a:tc>
                <a:tc>
                  <a:txBody>
                    <a:bodyPr/>
                    <a:lstStyle/>
                    <a:p>
                      <a:r>
                        <a:rPr sz="1425"/>
                        <a:t>Candidate log, IR checks, differential runs</a:t>
                      </a:r>
                    </a:p>
                  </a:txBody>
                  <a:tcPr marL="91440" marR="91440" marT="45720" marB="45720"/>
                </a:tc>
              </a:tr>
            </a:tbl>
          </a:graphicData>
        </a:graphic>
      </p:graphicFrame>
    </p:spTree>
    <p:extLst>
      <p:ext uri="{BB962C8B-B14F-4D97-AF65-F5344CB8AC3E}">
        <p14:creationId xmlns:p14="http://schemas.microsoft.com/office/powerpoint/2010/main" val="53625645"/>
      </p:ext>
    </p:extLst>
  </p:cSld>
</p:sld>
</file>

<file path=ppt/slides/slide5.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209EA1-E5BE-4331-A74B-9B5ABAD2933E}"/>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Literature review · inferring required bits</a:t>
            </a:r>
          </a:p>
        </p:txBody>
      </p:sp>
      <p:sp>
        <p:nvSpPr>
          <p:cNvPr id="2" name="">
            <a:extLst xmlns:a="http://schemas.openxmlformats.org/drawingml/2006/main">
              <a:ext uri="{FF2B5EF4-FFF2-40B4-BE49-F238E27FC236}">
                <a16:creationId xmlns:a16="http://schemas.microsoft.com/office/drawing/2014/main" id="{7034B830-D588-44CA-89D8-91FF4F1D7022}"/>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E8840837-2676-433E-8EAC-FAE85D0C8260}"/>
              </a:ext>
            </a:extLst>
          </p:cNvPr>
          <p:cNvSpPr>
            <a:spLocks xmlns:a="http://schemas.openxmlformats.org/drawingml/2006/main" noGrp="1"/>
          </p:cNvSpPr>
          <p:nvPr/>
        </p:nvSpPr>
        <p:spPr>
          <a:xfrm xmlns:a="http://schemas.openxmlformats.org/drawingml/2006/main">
            <a:off x="714375" y="138112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Cousot and Cousot [2] establish sound approximation; Wegman and Zadeck [3] use branch-sensitive propagation. These foundations explain why a smaller width must be proved across reachable paths.</a:t>
            </a:r>
          </a:p>
        </p:txBody>
      </p:sp>
      <p:sp>
        <p:nvSpPr>
          <p:cNvPr id="4" name="">
            <a:extLst xmlns:a="http://schemas.openxmlformats.org/drawingml/2006/main">
              <a:ext uri="{FF2B5EF4-FFF2-40B4-BE49-F238E27FC236}">
                <a16:creationId xmlns:a16="http://schemas.microsoft.com/office/drawing/2014/main" id="{26E40559-2D3D-48E0-BF4E-AB9D5D2AC34D}"/>
              </a:ext>
            </a:extLst>
          </p:cNvPr>
          <p:cNvSpPr>
            <a:spLocks xmlns:a="http://schemas.openxmlformats.org/drawingml/2006/main" noGrp="1"/>
          </p:cNvSpPr>
          <p:nvPr/>
        </p:nvSpPr>
        <p:spPr>
          <a:xfrm xmlns:a="http://schemas.openxmlformats.org/drawingml/2006/main">
            <a:off x="714375" y="251460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Bitwise [4] propagates width constraints forward and backward. BitValue [5] detects constant and unused bits. Both show that computation often carries redundant bits, chiefly in hardware-oriented settings.</a:t>
            </a:r>
          </a:p>
        </p:txBody>
      </p:sp>
      <p:sp>
        <p:nvSpPr>
          <p:cNvPr id="5" name="">
            <a:extLst xmlns:a="http://schemas.openxmlformats.org/drawingml/2006/main">
              <a:ext uri="{FF2B5EF4-FFF2-40B4-BE49-F238E27FC236}">
                <a16:creationId xmlns:a16="http://schemas.microsoft.com/office/drawing/2014/main" id="{DE1D0BC6-F99C-4155-BEC3-668C1ABCE49B}"/>
              </a:ext>
            </a:extLst>
          </p:cNvPr>
          <p:cNvSpPr>
            <a:spLocks xmlns:a="http://schemas.openxmlformats.org/drawingml/2006/main" noGrp="1"/>
          </p:cNvSpPr>
          <p:nvPr/>
        </p:nvSpPr>
        <p:spPr>
          <a:xfrm xmlns:a="http://schemas.openxmlformats.org/drawingml/2006/main">
            <a:off x="714375" y="364807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MiniBit [6] applies affine arithmetic to fixed-point circuits. Gort and Anderson [19] combine ranges with bitmasks; Zhang et al. [20] use a bit-flow graph for FPGA synthesis.</a:t>
            </a:r>
          </a:p>
        </p:txBody>
      </p:sp>
      <p:sp>
        <p:nvSpPr>
          <p:cNvPr id="6" name="">
            <a:extLst xmlns:a="http://schemas.openxmlformats.org/drawingml/2006/main">
              <a:ext uri="{FF2B5EF4-FFF2-40B4-BE49-F238E27FC236}">
                <a16:creationId xmlns:a16="http://schemas.microsoft.com/office/drawing/2014/main" id="{D09788B6-FEBF-4174-B703-E1CF9D035727}"/>
              </a:ext>
            </a:extLst>
          </p:cNvPr>
          <p:cNvSpPr>
            <a:spLocks xmlns:a="http://schemas.openxmlformats.org/drawingml/2006/main" noGrp="1"/>
          </p:cNvSpPr>
          <p:nvPr/>
        </p:nvSpPr>
        <p:spPr>
          <a:xfrm xmlns:a="http://schemas.openxmlformats.org/drawingml/2006/main">
            <a:off x="714375" y="47815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006E74"/>
                </a:solidFill>
                <a:latin typeface="Aptos"/>
                <a:ea typeface="Aptos"/>
                <a:cs typeface="Aptos"/>
              </a:defRPr>
            </a:pPr>
            <a:r>
              <a:rPr sz="1455" b="0">
                <a:solidFill>
                  <a:srgbClr val="006E74"/>
                </a:solidFill>
                <a:latin typeface="Aptos"/>
                <a:ea typeface="Aptos"/>
                <a:cs typeface="Aptos"/>
              </a:rPr>
              <a:t>Together, these works inform candidate width analysis. They do not by themselves establish when changing a complete LLVM array or global preserves pointer behavior and reduces allocated bytes.</a:t>
            </a:r>
          </a:p>
        </p:txBody>
      </p:sp>
      <p:sp>
        <p:nvSpPr>
          <p:cNvPr id="7" name="">
            <a:extLst xmlns:a="http://schemas.openxmlformats.org/drawingml/2006/main">
              <a:ext uri="{FF2B5EF4-FFF2-40B4-BE49-F238E27FC236}">
                <a16:creationId xmlns:a16="http://schemas.microsoft.com/office/drawing/2014/main" id="{BAB3ACEF-474D-4D8A-8329-437217BD7D91}"/>
              </a:ext>
            </a:extLst>
          </p:cNvPr>
          <p:cNvSpPr>
            <a:spLocks xmlns:a="http://schemas.openxmlformats.org/drawingml/2006/main" noGrp="1"/>
          </p:cNvSpPr>
          <p:nvPr/>
        </p:nvSpPr>
        <p:spPr>
          <a:xfrm xmlns:a="http://schemas.openxmlformats.org/drawingml/2006/main">
            <a:off x="714375" y="595312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13" b="0">
                <a:solidFill>
                  <a:srgbClr val="426070"/>
                </a:solidFill>
                <a:latin typeface="Aptos"/>
                <a:ea typeface="Aptos"/>
                <a:cs typeface="Aptos"/>
              </a:defRPr>
            </a:pPr>
            <a:r>
              <a:rPr sz="1013" b="0">
                <a:solidFill>
                  <a:srgbClr val="426070"/>
                </a:solidFill>
                <a:latin typeface="Aptos"/>
                <a:ea typeface="Aptos"/>
                <a:cs typeface="Aptos"/>
              </a:rPr>
              <a:t>References 1–10 are provisional pending the original survey.</a:t>
            </a:r>
          </a:p>
        </p:txBody>
      </p:sp>
    </p:spTree>
    <p:extLst>
      <p:ext uri="{BB962C8B-B14F-4D97-AF65-F5344CB8AC3E}">
        <p14:creationId xmlns:p14="http://schemas.microsoft.com/office/powerpoint/2010/main" val="97389690"/>
      </p:ext>
    </p:extLst>
  </p:cSld>
</p:sld>
</file>

<file path=ppt/slides/slide6.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43FAEA-A631-4F72-84C2-951973254B8F}"/>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Literature review · changing storage</a:t>
            </a:r>
          </a:p>
        </p:txBody>
      </p:sp>
      <p:sp>
        <p:nvSpPr>
          <p:cNvPr id="2" name="">
            <a:extLst xmlns:a="http://schemas.openxmlformats.org/drawingml/2006/main">
              <a:ext uri="{FF2B5EF4-FFF2-40B4-BE49-F238E27FC236}">
                <a16:creationId xmlns:a16="http://schemas.microsoft.com/office/drawing/2014/main" id="{A16FFE4A-5A79-40AA-B71B-38D5538CACFD}"/>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26CADAD7-E9C2-4AED-83BE-FA5D6E5B82CB}"/>
              </a:ext>
            </a:extLst>
          </p:cNvPr>
          <p:cNvSpPr>
            <a:spLocks xmlns:a="http://schemas.openxmlformats.org/drawingml/2006/main" noGrp="1"/>
          </p:cNvSpPr>
          <p:nvPr/>
        </p:nvSpPr>
        <p:spPr>
          <a:xfrm xmlns:a="http://schemas.openxmlformats.org/drawingml/2006/main">
            <a:off x="714375" y="138112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Bhaskaracharya et al. [10] contract array storage through reuse across scheduled loops. Cooprider and Regehr [21] pack embedded RAM using whole-program analysis; Zhang and Gupta [28] compress heap fields.</a:t>
            </a:r>
          </a:p>
        </p:txBody>
      </p:sp>
      <p:sp>
        <p:nvSpPr>
          <p:cNvPr id="4" name="">
            <a:extLst xmlns:a="http://schemas.openxmlformats.org/drawingml/2006/main">
              <a:ext uri="{FF2B5EF4-FFF2-40B4-BE49-F238E27FC236}">
                <a16:creationId xmlns:a16="http://schemas.microsoft.com/office/drawing/2014/main" id="{DEE1E35F-E64A-4D41-814F-C31F7A5E8207}"/>
              </a:ext>
            </a:extLst>
          </p:cNvPr>
          <p:cNvSpPr>
            <a:spLocks xmlns:a="http://schemas.openxmlformats.org/drawingml/2006/main" noGrp="1"/>
          </p:cNvSpPr>
          <p:nvPr/>
        </p:nvSpPr>
        <p:spPr>
          <a:xfrm xmlns:a="http://schemas.openxmlformats.org/drawingml/2006/main">
            <a:off x="714375" y="251460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Heo et al. [11] is close prior art: an LLVM-based bit-usage analysis narrows selected memory accesses and computations for embedded processors. This rules out a broad claim of originating LLVM memory-width optimization.</a:t>
            </a:r>
          </a:p>
        </p:txBody>
      </p:sp>
      <p:sp>
        <p:nvSpPr>
          <p:cNvPr id="5" name="">
            <a:extLst xmlns:a="http://schemas.openxmlformats.org/drawingml/2006/main">
              <a:ext uri="{FF2B5EF4-FFF2-40B4-BE49-F238E27FC236}">
                <a16:creationId xmlns:a16="http://schemas.microsoft.com/office/drawing/2014/main" id="{767A0EC3-3E45-4C21-9D1B-D4D6D5F729B0}"/>
              </a:ext>
            </a:extLst>
          </p:cNvPr>
          <p:cNvSpPr>
            <a:spLocks xmlns:a="http://schemas.openxmlformats.org/drawingml/2006/main" noGrp="1"/>
          </p:cNvSpPr>
          <p:nvPr/>
        </p:nvSpPr>
        <p:spPr>
          <a:xfrm xmlns:a="http://schemas.openxmlformats.org/drawingml/2006/main">
            <a:off x="714375" y="364807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Jain et al. [14] examine executable-size effects of LLVM passes. Cherubin and Agosta [15] survey reduced-precision tools, including error-tolerant settings. Neither metric nor precision model can be transferred to exact integer storage unchanged.</a:t>
            </a:r>
          </a:p>
        </p:txBody>
      </p:sp>
      <p:sp>
        <p:nvSpPr>
          <p:cNvPr id="6" name="">
            <a:extLst xmlns:a="http://schemas.openxmlformats.org/drawingml/2006/main">
              <a:ext uri="{FF2B5EF4-FFF2-40B4-BE49-F238E27FC236}">
                <a16:creationId xmlns:a16="http://schemas.microsoft.com/office/drawing/2014/main" id="{F4944F18-FBCF-4CE6-A112-EB09AF05255A}"/>
              </a:ext>
            </a:extLst>
          </p:cNvPr>
          <p:cNvSpPr>
            <a:spLocks xmlns:a="http://schemas.openxmlformats.org/drawingml/2006/main" noGrp="1"/>
          </p:cNvSpPr>
          <p:nvPr/>
        </p:nvSpPr>
        <p:spPr>
          <a:xfrm xmlns:a="http://schemas.openxmlformats.org/drawingml/2006/main">
            <a:off x="714375" y="47815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006E74"/>
                </a:solidFill>
                <a:latin typeface="Aptos"/>
                <a:ea typeface="Aptos"/>
                <a:cs typeface="Aptos"/>
              </a:defRPr>
            </a:pPr>
            <a:r>
              <a:rPr sz="1455" b="0">
                <a:solidFill>
                  <a:srgbClr val="006E74"/>
                </a:solidFill>
                <a:latin typeface="Aptos"/>
                <a:ea typeface="Aptos"/>
                <a:cs typeface="Aptos"/>
              </a:rPr>
              <a:t>The project therefore tests a bounded question: safe whole-object element-width changes, exact load reconstruction, and a measured reduction in target allocation size.</a:t>
            </a:r>
          </a:p>
        </p:txBody>
      </p:sp>
      <p:sp>
        <p:nvSpPr>
          <p:cNvPr id="7" name="">
            <a:extLst xmlns:a="http://schemas.openxmlformats.org/drawingml/2006/main">
              <a:ext uri="{FF2B5EF4-FFF2-40B4-BE49-F238E27FC236}">
                <a16:creationId xmlns:a16="http://schemas.microsoft.com/office/drawing/2014/main" id="{918DC6BD-8F40-4260-A068-6A3858A82A16}"/>
              </a:ext>
            </a:extLst>
          </p:cNvPr>
          <p:cNvSpPr>
            <a:spLocks xmlns:a="http://schemas.openxmlformats.org/drawingml/2006/main" noGrp="1"/>
          </p:cNvSpPr>
          <p:nvPr/>
        </p:nvSpPr>
        <p:spPr>
          <a:xfrm xmlns:a="http://schemas.openxmlformats.org/drawingml/2006/main">
            <a:off x="714375" y="595312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13" b="0">
                <a:solidFill>
                  <a:srgbClr val="426070"/>
                </a:solidFill>
                <a:latin typeface="Aptos"/>
                <a:ea typeface="Aptos"/>
                <a:cs typeface="Aptos"/>
              </a:defRPr>
            </a:pPr>
            <a:r>
              <a:rPr sz="1013" b="0">
                <a:solidFill>
                  <a:srgbClr val="426070"/>
                </a:solidFill>
                <a:latin typeface="Aptos"/>
                <a:ea typeface="Aptos"/>
                <a:cs typeface="Aptos"/>
              </a:rPr>
              <a:t>References 1–10 are provisional pending the original survey.</a:t>
            </a:r>
          </a:p>
        </p:txBody>
      </p:sp>
    </p:spTree>
    <p:extLst>
      <p:ext uri="{BB962C8B-B14F-4D97-AF65-F5344CB8AC3E}">
        <p14:creationId xmlns:p14="http://schemas.microsoft.com/office/powerpoint/2010/main" val="1187017343"/>
      </p:ext>
    </p:extLst>
  </p:cSld>
</p:sld>
</file>

<file path=ppt/slides/slide7.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3E5267-8292-41AC-B20F-ADB563E6672D}"/>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Literature review · widths and target resources</a:t>
            </a:r>
          </a:p>
        </p:txBody>
      </p:sp>
      <p:sp>
        <p:nvSpPr>
          <p:cNvPr id="2" name="">
            <a:extLst xmlns:a="http://schemas.openxmlformats.org/drawingml/2006/main">
              <a:ext uri="{FF2B5EF4-FFF2-40B4-BE49-F238E27FC236}">
                <a16:creationId xmlns:a16="http://schemas.microsoft.com/office/drawing/2014/main" id="{09399121-316F-418E-B233-FF99CC650381}"/>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5F3CB9CF-E22A-4C05-B8B2-ED5F970E0588}"/>
              </a:ext>
            </a:extLst>
          </p:cNvPr>
          <p:cNvSpPr>
            <a:spLocks xmlns:a="http://schemas.openxmlformats.org/drawingml/2006/main" noGrp="1"/>
          </p:cNvSpPr>
          <p:nvPr/>
        </p:nvSpPr>
        <p:spPr>
          <a:xfrm xmlns:a="http://schemas.openxmlformats.org/drawingml/2006/main">
            <a:off x="714375" y="138112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Mahlke et al. [7] and Cong et al. [26] use bitwidth in accelerator synthesis. Lee et al. [8] guarantee fixed-point accuracy. These works optimize hardware area or bounded error rather than exact LLVM memory representation.</a:t>
            </a:r>
          </a:p>
        </p:txBody>
      </p:sp>
      <p:sp>
        <p:nvSpPr>
          <p:cNvPr id="4" name="">
            <a:extLst xmlns:a="http://schemas.openxmlformats.org/drawingml/2006/main">
              <a:ext uri="{FF2B5EF4-FFF2-40B4-BE49-F238E27FC236}">
                <a16:creationId xmlns:a16="http://schemas.microsoft.com/office/drawing/2014/main" id="{CC7FBA13-1315-46C7-B163-7AD85E2AAFB0}"/>
              </a:ext>
            </a:extLst>
          </p:cNvPr>
          <p:cNvSpPr>
            <a:spLocks xmlns:a="http://schemas.openxmlformats.org/drawingml/2006/main" noGrp="1"/>
          </p:cNvSpPr>
          <p:nvPr/>
        </p:nvSpPr>
        <p:spPr>
          <a:xfrm xmlns:a="http://schemas.openxmlformats.org/drawingml/2006/main">
            <a:off x="714375" y="251460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Tallam and Gupta [22], Nandivada and Barik [9], and Canesche et al. [23] exploit narrow values in register allocation or binding. Register savings should not be reported as object-allocation savings.</a:t>
            </a:r>
          </a:p>
        </p:txBody>
      </p:sp>
      <p:sp>
        <p:nvSpPr>
          <p:cNvPr id="5" name="">
            <a:extLst xmlns:a="http://schemas.openxmlformats.org/drawingml/2006/main">
              <a:ext uri="{FF2B5EF4-FFF2-40B4-BE49-F238E27FC236}">
                <a16:creationId xmlns:a16="http://schemas.microsoft.com/office/drawing/2014/main" id="{523697C4-E8CF-4A8A-87BA-13A62E3B2E43}"/>
              </a:ext>
            </a:extLst>
          </p:cNvPr>
          <p:cNvSpPr>
            <a:spLocks xmlns:a="http://schemas.openxmlformats.org/drawingml/2006/main" noGrp="1"/>
          </p:cNvSpPr>
          <p:nvPr/>
        </p:nvSpPr>
        <p:spPr>
          <a:xfrm xmlns:a="http://schemas.openxmlformats.org/drawingml/2006/main">
            <a:off x="714375" y="364807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Li et al. [25] and BitSpec [24] add speculation or hardware support for narrow registers. Bhagat et al. [27] prune unproductive narrow computations; the proposed pass instead uses static proof before a memory rewrite.</a:t>
            </a:r>
          </a:p>
        </p:txBody>
      </p:sp>
      <p:sp>
        <p:nvSpPr>
          <p:cNvPr id="6" name="">
            <a:extLst xmlns:a="http://schemas.openxmlformats.org/drawingml/2006/main">
              <a:ext uri="{FF2B5EF4-FFF2-40B4-BE49-F238E27FC236}">
                <a16:creationId xmlns:a16="http://schemas.microsoft.com/office/drawing/2014/main" id="{D0178DF0-3DE4-41EB-BB29-06829797FEC5}"/>
              </a:ext>
            </a:extLst>
          </p:cNvPr>
          <p:cNvSpPr>
            <a:spLocks xmlns:a="http://schemas.openxmlformats.org/drawingml/2006/main" noGrp="1"/>
          </p:cNvSpPr>
          <p:nvPr/>
        </p:nvSpPr>
        <p:spPr>
          <a:xfrm xmlns:a="http://schemas.openxmlformats.org/drawingml/2006/main">
            <a:off x="714375" y="47815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006E74"/>
                </a:solidFill>
                <a:latin typeface="Aptos"/>
                <a:ea typeface="Aptos"/>
                <a:cs typeface="Aptos"/>
              </a:defRPr>
            </a:pPr>
            <a:r>
              <a:rPr sz="1455" b="0">
                <a:solidFill>
                  <a:srgbClr val="006E74"/>
                </a:solidFill>
                <a:latin typeface="Aptos"/>
                <a:ea typeface="Aptos"/>
                <a:cs typeface="Aptos"/>
              </a:rPr>
              <a:t>The common lesson is that bit savings depend on the target resource. The proposed DataLayout gate will test complete-object allocation, not infer physical savings from IR width alone.</a:t>
            </a:r>
          </a:p>
        </p:txBody>
      </p:sp>
    </p:spTree>
    <p:extLst>
      <p:ext uri="{BB962C8B-B14F-4D97-AF65-F5344CB8AC3E}">
        <p14:creationId xmlns:p14="http://schemas.microsoft.com/office/powerpoint/2010/main" val="596907712"/>
      </p:ext>
    </p:extLst>
  </p:cSld>
</p:sld>
</file>

<file path=ppt/slides/slide8.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D3E67E-8021-4538-9B30-0319C25775C5}"/>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Literature review · validation and evaluation</a:t>
            </a:r>
          </a:p>
        </p:txBody>
      </p:sp>
      <p:sp>
        <p:nvSpPr>
          <p:cNvPr id="2" name="">
            <a:extLst xmlns:a="http://schemas.openxmlformats.org/drawingml/2006/main">
              <a:ext uri="{FF2B5EF4-FFF2-40B4-BE49-F238E27FC236}">
                <a16:creationId xmlns:a16="http://schemas.microsoft.com/office/drawing/2014/main" id="{A1132DE0-E0BA-4001-8C8A-B0D7077949F0}"/>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42936B33-B1AB-4B59-8584-1E3D7EEBB6BA}"/>
              </a:ext>
            </a:extLst>
          </p:cNvPr>
          <p:cNvSpPr>
            <a:spLocks xmlns:a="http://schemas.openxmlformats.org/drawingml/2006/main" noGrp="1"/>
          </p:cNvSpPr>
          <p:nvPr/>
        </p:nvSpPr>
        <p:spPr>
          <a:xfrm xmlns:a="http://schemas.openxmlformats.org/drawingml/2006/main">
            <a:off x="714375" y="138112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LLVM [1] supplies the typed IR and pass framework. Alive [29] checks local rewrite rules; Alive2 [12] validates bounded LLVM IR translations. Object rewrites still require explicit pointer and layout reasoning.</a:t>
            </a:r>
          </a:p>
        </p:txBody>
      </p:sp>
      <p:sp>
        <p:nvSpPr>
          <p:cNvPr id="4" name="">
            <a:extLst xmlns:a="http://schemas.openxmlformats.org/drawingml/2006/main">
              <a:ext uri="{FF2B5EF4-FFF2-40B4-BE49-F238E27FC236}">
                <a16:creationId xmlns:a16="http://schemas.microsoft.com/office/drawing/2014/main" id="{8A098FC0-8BED-4016-8CB4-B263A3E5560A}"/>
              </a:ext>
            </a:extLst>
          </p:cNvPr>
          <p:cNvSpPr>
            <a:spLocks xmlns:a="http://schemas.openxmlformats.org/drawingml/2006/main" noGrp="1"/>
          </p:cNvSpPr>
          <p:nvPr/>
        </p:nvSpPr>
        <p:spPr>
          <a:xfrm xmlns:a="http://schemas.openxmlformats.org/drawingml/2006/main">
            <a:off x="714375" y="251460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Zhou et al. [17] study optimization bugs. Csmith [30] and CsmithEdge [18] generate challenging compiler tests while addressing undefined behavior. These motivate negative cases and baseline-versus-transformed execution.</a:t>
            </a:r>
          </a:p>
        </p:txBody>
      </p:sp>
      <p:sp>
        <p:nvSpPr>
          <p:cNvPr id="5" name="">
            <a:extLst xmlns:a="http://schemas.openxmlformats.org/drawingml/2006/main">
              <a:ext uri="{FF2B5EF4-FFF2-40B4-BE49-F238E27FC236}">
                <a16:creationId xmlns:a16="http://schemas.microsoft.com/office/drawing/2014/main" id="{1B2312DA-38C1-4B7D-A679-5C3AC7CF5A8D}"/>
              </a:ext>
            </a:extLst>
          </p:cNvPr>
          <p:cNvSpPr>
            <a:spLocks xmlns:a="http://schemas.openxmlformats.org/drawingml/2006/main" noGrp="1"/>
          </p:cNvSpPr>
          <p:nvPr/>
        </p:nvSpPr>
        <p:spPr>
          <a:xfrm xmlns:a="http://schemas.openxmlformats.org/drawingml/2006/main">
            <a:off x="714375" y="364807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142434"/>
                </a:solidFill>
                <a:latin typeface="Aptos"/>
                <a:ea typeface="Aptos"/>
                <a:cs typeface="Aptos"/>
              </a:defRPr>
            </a:pPr>
            <a:r>
              <a:rPr sz="1455" b="0">
                <a:solidFill>
                  <a:srgbClr val="142434"/>
                </a:solidFill>
                <a:latin typeface="Aptos"/>
                <a:ea typeface="Aptos"/>
                <a:cs typeface="Aptos"/>
              </a:rPr>
              <a:t>Jantz and Kulkarni [16] show that pass order can matter. MiBench [13] supplies embedded workloads. A controlled experiment must hold the LLVM pipeline fixed and report cases that cannot be tested.</a:t>
            </a:r>
          </a:p>
        </p:txBody>
      </p:sp>
      <p:sp>
        <p:nvSpPr>
          <p:cNvPr id="6" name="">
            <a:extLst xmlns:a="http://schemas.openxmlformats.org/drawingml/2006/main">
              <a:ext uri="{FF2B5EF4-FFF2-40B4-BE49-F238E27FC236}">
                <a16:creationId xmlns:a16="http://schemas.microsoft.com/office/drawing/2014/main" id="{FC1CBC55-1DE3-41EB-BC92-2D8C0303C050}"/>
              </a:ext>
            </a:extLst>
          </p:cNvPr>
          <p:cNvSpPr>
            <a:spLocks xmlns:a="http://schemas.openxmlformats.org/drawingml/2006/main" noGrp="1"/>
          </p:cNvSpPr>
          <p:nvPr/>
        </p:nvSpPr>
        <p:spPr>
          <a:xfrm xmlns:a="http://schemas.openxmlformats.org/drawingml/2006/main">
            <a:off x="714375" y="47815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55" b="0">
                <a:solidFill>
                  <a:srgbClr val="006E74"/>
                </a:solidFill>
                <a:latin typeface="Aptos"/>
                <a:ea typeface="Aptos"/>
                <a:cs typeface="Aptos"/>
              </a:defRPr>
            </a:pPr>
            <a:r>
              <a:rPr sz="1455" b="0">
                <a:solidFill>
                  <a:srgbClr val="006E74"/>
                </a:solidFill>
                <a:latin typeface="Aptos"/>
                <a:ea typeface="Aptos"/>
                <a:cs typeface="Aptos"/>
              </a:rPr>
              <a:t>The review supports four distinct evaluation claims: correctness, transformation coverage, target allocation, and downstream binary/runtime effects. None should be substituted for another.</a:t>
            </a:r>
          </a:p>
        </p:txBody>
      </p:sp>
    </p:spTree>
    <p:extLst>
      <p:ext uri="{BB962C8B-B14F-4D97-AF65-F5344CB8AC3E}">
        <p14:creationId xmlns:p14="http://schemas.microsoft.com/office/powerpoint/2010/main" val="170032094"/>
      </p:ext>
    </p:extLst>
  </p:cSld>
</p:sld>
</file>

<file path=ppt/slides/slide9.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709783-3545-4059-988C-733A476D876B}"/>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Research gap and proposed workflow</a:t>
            </a:r>
          </a:p>
        </p:txBody>
      </p:sp>
      <p:sp>
        <p:nvSpPr>
          <p:cNvPr id="2" name="">
            <a:extLst xmlns:a="http://schemas.openxmlformats.org/drawingml/2006/main">
              <a:ext uri="{FF2B5EF4-FFF2-40B4-BE49-F238E27FC236}">
                <a16:creationId xmlns:a16="http://schemas.microsoft.com/office/drawing/2014/main" id="{E6794F66-7BD7-4D0E-8FEC-261D8F09573B}"/>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41B295D1-C1CE-4854-99ED-0E428E365F77}"/>
              </a:ext>
            </a:extLst>
          </p:cNvPr>
          <p:cNvSpPr>
            <a:spLocks xmlns:a="http://schemas.openxmlformats.org/drawingml/2006/main" noGrp="1"/>
          </p:cNvSpPr>
          <p:nvPr/>
        </p:nvSpPr>
        <p:spPr>
          <a:xfrm xmlns:a="http://schemas.openxmlformats.org/drawingml/2006/main">
            <a:off x="714375" y="13906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006E74"/>
                </a:solidFill>
                <a:latin typeface="Aptos"/>
                <a:ea typeface="Aptos"/>
                <a:cs typeface="Aptos"/>
              </a:defRPr>
            </a:pPr>
            <a:r>
              <a:rPr sz="1613" b="0">
                <a:solidFill>
                  <a:srgbClr val="006E74"/>
                </a:solidFill>
                <a:latin typeface="Aptos"/>
                <a:ea typeface="Aptos"/>
                <a:cs typeface="Aptos"/>
              </a:rPr>
              <a:t>Width inference, RAM compression, narrow LLVM accesses, and compiler validation are established areas.</a:t>
            </a:r>
          </a:p>
        </p:txBody>
      </p:sp>
      <p:sp>
        <p:nvSpPr>
          <p:cNvPr id="4" name="">
            <a:extLst xmlns:a="http://schemas.openxmlformats.org/drawingml/2006/main">
              <a:ext uri="{FF2B5EF4-FFF2-40B4-BE49-F238E27FC236}">
                <a16:creationId xmlns:a16="http://schemas.microsoft.com/office/drawing/2014/main" id="{0223E2CD-DF3D-448F-BF62-F173F9891018}"/>
              </a:ext>
            </a:extLst>
          </p:cNvPr>
          <p:cNvSpPr>
            <a:spLocks xmlns:a="http://schemas.openxmlformats.org/drawingml/2006/main" noGrp="1"/>
          </p:cNvSpPr>
          <p:nvPr/>
        </p:nvSpPr>
        <p:spPr>
          <a:xfrm xmlns:a="http://schemas.openxmlformats.org/drawingml/2006/main">
            <a:off x="714375" y="22669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Heo et al. (2025) is close prior work; the claim is a narrower, testable integration question.</a:t>
            </a:r>
          </a:p>
        </p:txBody>
      </p:sp>
      <p:sp>
        <p:nvSpPr>
          <p:cNvPr id="5" name="">
            <a:extLst xmlns:a="http://schemas.openxmlformats.org/drawingml/2006/main">
              <a:ext uri="{FF2B5EF4-FFF2-40B4-BE49-F238E27FC236}">
                <a16:creationId xmlns:a16="http://schemas.microsoft.com/office/drawing/2014/main" id="{652E5106-D989-473A-8427-88E0CD1BC3CD}"/>
              </a:ext>
            </a:extLst>
          </p:cNvPr>
          <p:cNvSpPr>
            <a:spLocks xmlns:a="http://schemas.openxmlformats.org/drawingml/2006/main" noGrp="1"/>
          </p:cNvSpPr>
          <p:nvPr/>
        </p:nvSpPr>
        <p:spPr>
          <a:xfrm xmlns:a="http://schemas.openxmlformats.org/drawingml/2006/main">
            <a:off x="714375" y="31432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Select eligible complete objects → inspect stores/loads/pointers → prove width and extension rule.</a:t>
            </a:r>
          </a:p>
        </p:txBody>
      </p:sp>
      <p:sp>
        <p:nvSpPr>
          <p:cNvPr id="6" name="">
            <a:extLst xmlns:a="http://schemas.openxmlformats.org/drawingml/2006/main">
              <a:ext uri="{FF2B5EF4-FFF2-40B4-BE49-F238E27FC236}">
                <a16:creationId xmlns:a16="http://schemas.microsoft.com/office/drawing/2014/main" id="{1FB606FF-EC1F-4162-9907-1A76D2E863CB}"/>
              </a:ext>
            </a:extLst>
          </p:cNvPr>
          <p:cNvSpPr>
            <a:spLocks xmlns:a="http://schemas.openxmlformats.org/drawingml/2006/main" noGrp="1"/>
          </p:cNvSpPr>
          <p:nvPr/>
        </p:nvSpPr>
        <p:spPr>
          <a:xfrm xmlns:a="http://schemas.openxmlformats.org/drawingml/2006/main">
            <a:off x="714375" y="40195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Check the target DataLayout allocation → rewrite only profitable safe cases → verify and log rejections.</a:t>
            </a:r>
          </a:p>
        </p:txBody>
      </p:sp>
      <p:sp>
        <p:nvSpPr>
          <p:cNvPr id="7" name="">
            <a:extLst xmlns:a="http://schemas.openxmlformats.org/drawingml/2006/main">
              <a:ext uri="{FF2B5EF4-FFF2-40B4-BE49-F238E27FC236}">
                <a16:creationId xmlns:a16="http://schemas.microsoft.com/office/drawing/2014/main" id="{4C2FB895-59B9-4C1A-B1C0-519FF0B67FD8}"/>
              </a:ext>
            </a:extLst>
          </p:cNvPr>
          <p:cNvSpPr>
            <a:spLocks xmlns:a="http://schemas.openxmlformats.org/drawingml/2006/main" noGrp="1"/>
          </p:cNvSpPr>
          <p:nvPr/>
        </p:nvSpPr>
        <p:spPr>
          <a:xfrm xmlns:a="http://schemas.openxmlformats.org/drawingml/2006/main">
            <a:off x="714375" y="48958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13" b="0">
                <a:solidFill>
                  <a:srgbClr val="142434"/>
                </a:solidFill>
                <a:latin typeface="Aptos"/>
                <a:ea typeface="Aptos"/>
                <a:cs typeface="Aptos"/>
              </a:defRPr>
            </a:pPr>
            <a:r>
              <a:rPr sz="1613" b="0">
                <a:solidFill>
                  <a:srgbClr val="142434"/>
                </a:solidFill>
                <a:latin typeface="Aptos"/>
                <a:ea typeface="Aptos"/>
                <a:cs typeface="Aptos"/>
              </a:rPr>
              <a:t>Study how many cases survive safety and target-size checks, and why others do not.</a:t>
            </a:r>
          </a:p>
        </p:txBody>
      </p:sp>
    </p:spTree>
    <p:extLst>
      <p:ext uri="{BB962C8B-B14F-4D97-AF65-F5344CB8AC3E}">
        <p14:creationId xmlns:p14="http://schemas.microsoft.com/office/powerpoint/2010/main" val="1928307637"/>
      </p:ext>
    </p:extLst>
  </p:cSld>
</p:sld>
</file>

<file path=ppt/slides/slide10.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3116CE-0825-4471-99F7-52E42C538E0B}"/>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Ten proposed novelty points</a:t>
            </a:r>
          </a:p>
        </p:txBody>
      </p:sp>
      <p:sp>
        <p:nvSpPr>
          <p:cNvPr id="2" name="">
            <a:extLst xmlns:a="http://schemas.openxmlformats.org/drawingml/2006/main">
              <a:ext uri="{FF2B5EF4-FFF2-40B4-BE49-F238E27FC236}">
                <a16:creationId xmlns:a16="http://schemas.microsoft.com/office/drawing/2014/main" id="{68DAC63B-AF29-4265-92D7-46F039CD2FEC}"/>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911520CD-8CAE-4496-9B3E-A12652A7560A}"/>
              </a:ext>
            </a:extLst>
          </p:cNvPr>
          <p:cNvSpPr>
            <a:spLocks xmlns:a="http://schemas.openxmlformats.org/drawingml/2006/main" noGrp="1"/>
          </p:cNvSpPr>
          <p:nvPr/>
        </p:nvSpPr>
        <p:spPr>
          <a:xfrm xmlns:a="http://schemas.openxmlformats.org/drawingml/2006/main">
            <a:off x="714375" y="1419225"/>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006E74"/>
                </a:solidFill>
                <a:latin typeface="Aptos"/>
                <a:ea typeface="Aptos"/>
                <a:cs typeface="Aptos"/>
              </a:defRPr>
            </a:pPr>
            <a:r>
              <a:rPr sz="1380" b="0">
                <a:solidFill>
                  <a:srgbClr val="006E74"/>
                </a:solidFill>
                <a:latin typeface="Aptos"/>
                <a:ea typeface="Aptos"/>
                <a:cs typeface="Aptos"/>
              </a:rPr>
              <a:t>1  Complete array or private global is the width decision unit.</a:t>
            </a:r>
          </a:p>
        </p:txBody>
      </p:sp>
      <p:sp>
        <p:nvSpPr>
          <p:cNvPr id="4" name="">
            <a:extLst xmlns:a="http://schemas.openxmlformats.org/drawingml/2006/main">
              <a:ext uri="{FF2B5EF4-FFF2-40B4-BE49-F238E27FC236}">
                <a16:creationId xmlns:a16="http://schemas.microsoft.com/office/drawing/2014/main" id="{B1BECAD6-55AE-4507-ACB7-FA85715FFF65}"/>
              </a:ext>
            </a:extLst>
          </p:cNvPr>
          <p:cNvSpPr>
            <a:spLocks xmlns:a="http://schemas.openxmlformats.org/drawingml/2006/main" noGrp="1"/>
          </p:cNvSpPr>
          <p:nvPr/>
        </p:nvSpPr>
        <p:spPr>
          <a:xfrm xmlns:a="http://schemas.openxmlformats.org/drawingml/2006/main">
            <a:off x="714375" y="2286000"/>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2  Combine stored-value proof with every load and pointer use.</a:t>
            </a:r>
          </a:p>
        </p:txBody>
      </p:sp>
      <p:sp>
        <p:nvSpPr>
          <p:cNvPr id="5" name="">
            <a:extLst xmlns:a="http://schemas.openxmlformats.org/drawingml/2006/main">
              <a:ext uri="{FF2B5EF4-FFF2-40B4-BE49-F238E27FC236}">
                <a16:creationId xmlns:a16="http://schemas.microsoft.com/office/drawing/2014/main" id="{9A757819-0EB3-4ABE-99A6-CBA7E8C6F848}"/>
              </a:ext>
            </a:extLst>
          </p:cNvPr>
          <p:cNvSpPr>
            <a:spLocks xmlns:a="http://schemas.openxmlformats.org/drawingml/2006/main" noGrp="1"/>
          </p:cNvSpPr>
          <p:nvPr/>
        </p:nvSpPr>
        <p:spPr>
          <a:xfrm xmlns:a="http://schemas.openxmlformats.org/drawingml/2006/main">
            <a:off x="714375" y="3152775"/>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3  Track zero-extension and sign-extension obligations separately.</a:t>
            </a:r>
          </a:p>
        </p:txBody>
      </p:sp>
      <p:sp>
        <p:nvSpPr>
          <p:cNvPr id="6" name="">
            <a:extLst xmlns:a="http://schemas.openxmlformats.org/drawingml/2006/main">
              <a:ext uri="{FF2B5EF4-FFF2-40B4-BE49-F238E27FC236}">
                <a16:creationId xmlns:a16="http://schemas.microsoft.com/office/drawing/2014/main" id="{FE066862-9D74-4919-9B79-DD34813926BF}"/>
              </a:ext>
            </a:extLst>
          </p:cNvPr>
          <p:cNvSpPr>
            <a:spLocks xmlns:a="http://schemas.openxmlformats.org/drawingml/2006/main" noGrp="1"/>
          </p:cNvSpPr>
          <p:nvPr/>
        </p:nvSpPr>
        <p:spPr>
          <a:xfrm xmlns:a="http://schemas.openxmlformats.org/drawingml/2006/main">
            <a:off x="714375" y="4019550"/>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4  Require the complete target allocation to shrink.</a:t>
            </a:r>
          </a:p>
        </p:txBody>
      </p:sp>
      <p:sp>
        <p:nvSpPr>
          <p:cNvPr id="7" name="">
            <a:extLst xmlns:a="http://schemas.openxmlformats.org/drawingml/2006/main">
              <a:ext uri="{FF2B5EF4-FFF2-40B4-BE49-F238E27FC236}">
                <a16:creationId xmlns:a16="http://schemas.microsoft.com/office/drawing/2014/main" id="{DD565757-1CD8-4724-B0C4-6F2D68F0D1DF}"/>
              </a:ext>
            </a:extLst>
          </p:cNvPr>
          <p:cNvSpPr>
            <a:spLocks xmlns:a="http://schemas.openxmlformats.org/drawingml/2006/main" noGrp="1"/>
          </p:cNvSpPr>
          <p:nvPr/>
        </p:nvSpPr>
        <p:spPr>
          <a:xfrm xmlns:a="http://schemas.openxmlformats.org/drawingml/2006/main">
            <a:off x="714375" y="4886325"/>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5  Use an explicit safe-use policy for each object class.</a:t>
            </a:r>
          </a:p>
        </p:txBody>
      </p:sp>
      <p:sp>
        <p:nvSpPr>
          <p:cNvPr id="8" name="">
            <a:extLst xmlns:a="http://schemas.openxmlformats.org/drawingml/2006/main">
              <a:ext uri="{FF2B5EF4-FFF2-40B4-BE49-F238E27FC236}">
                <a16:creationId xmlns:a16="http://schemas.microsoft.com/office/drawing/2014/main" id="{E2DAC437-7725-4E84-85CC-2BC4E408E8A6}"/>
              </a:ext>
            </a:extLst>
          </p:cNvPr>
          <p:cNvSpPr>
            <a:spLocks xmlns:a="http://schemas.openxmlformats.org/drawingml/2006/main" noGrp="1"/>
          </p:cNvSpPr>
          <p:nvPr/>
        </p:nvSpPr>
        <p:spPr>
          <a:xfrm xmlns:a="http://schemas.openxmlformats.org/drawingml/2006/main">
            <a:off x="6096000" y="1419225"/>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006E74"/>
                </a:solidFill>
                <a:latin typeface="Aptos"/>
                <a:ea typeface="Aptos"/>
                <a:cs typeface="Aptos"/>
              </a:defRPr>
            </a:pPr>
            <a:r>
              <a:rPr sz="1380" b="0">
                <a:solidFill>
                  <a:srgbClr val="006E74"/>
                </a:solidFill>
                <a:latin typeface="Aptos"/>
                <a:ea typeface="Aptos"/>
                <a:cs typeface="Aptos"/>
              </a:rPr>
              <a:t>6  Reject mixed signed/unsigned evidence rather than guess.</a:t>
            </a:r>
          </a:p>
        </p:txBody>
      </p:sp>
      <p:sp>
        <p:nvSpPr>
          <p:cNvPr id="9" name="">
            <a:extLst xmlns:a="http://schemas.openxmlformats.org/drawingml/2006/main">
              <a:ext uri="{FF2B5EF4-FFF2-40B4-BE49-F238E27FC236}">
                <a16:creationId xmlns:a16="http://schemas.microsoft.com/office/drawing/2014/main" id="{BC646403-C6E3-4391-97A2-D176119F8544}"/>
              </a:ext>
            </a:extLst>
          </p:cNvPr>
          <p:cNvSpPr>
            <a:spLocks xmlns:a="http://schemas.openxmlformats.org/drawingml/2006/main" noGrp="1"/>
          </p:cNvSpPr>
          <p:nvPr/>
        </p:nvSpPr>
        <p:spPr>
          <a:xfrm xmlns:a="http://schemas.openxmlformats.org/drawingml/2006/main">
            <a:off x="6096000" y="2286000"/>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7  Record a precise reason for every rejected candidate.</a:t>
            </a:r>
          </a:p>
        </p:txBody>
      </p:sp>
      <p:sp>
        <p:nvSpPr>
          <p:cNvPr id="10" name="">
            <a:extLst xmlns:a="http://schemas.openxmlformats.org/drawingml/2006/main">
              <a:ext uri="{FF2B5EF4-FFF2-40B4-BE49-F238E27FC236}">
                <a16:creationId xmlns:a16="http://schemas.microsoft.com/office/drawing/2014/main" id="{322B3347-15C1-438F-941F-AC20301F54F9}"/>
              </a:ext>
            </a:extLst>
          </p:cNvPr>
          <p:cNvSpPr>
            <a:spLocks xmlns:a="http://schemas.openxmlformats.org/drawingml/2006/main" noGrp="1"/>
          </p:cNvSpPr>
          <p:nvPr/>
        </p:nvSpPr>
        <p:spPr>
          <a:xfrm xmlns:a="http://schemas.openxmlformats.org/drawingml/2006/main">
            <a:off x="6096000" y="3152775"/>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8  Study pass placement alongside SROA and other LLVM passes.</a:t>
            </a:r>
          </a:p>
        </p:txBody>
      </p:sp>
      <p:sp>
        <p:nvSpPr>
          <p:cNvPr id="11" name="">
            <a:extLst xmlns:a="http://schemas.openxmlformats.org/drawingml/2006/main">
              <a:ext uri="{FF2B5EF4-FFF2-40B4-BE49-F238E27FC236}">
                <a16:creationId xmlns:a16="http://schemas.microsoft.com/office/drawing/2014/main" id="{840A09F1-7D76-4CAD-B161-17C6D7CE29B7}"/>
              </a:ext>
            </a:extLst>
          </p:cNvPr>
          <p:cNvSpPr>
            <a:spLocks xmlns:a="http://schemas.openxmlformats.org/drawingml/2006/main" noGrp="1"/>
          </p:cNvSpPr>
          <p:nvPr/>
        </p:nvSpPr>
        <p:spPr>
          <a:xfrm xmlns:a="http://schemas.openxmlformats.org/drawingml/2006/main">
            <a:off x="6096000" y="4019550"/>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9  Separate IR width, target allocation, binary size, and runtime.</a:t>
            </a:r>
          </a:p>
        </p:txBody>
      </p:sp>
      <p:sp>
        <p:nvSpPr>
          <p:cNvPr id="12" name="">
            <a:extLst xmlns:a="http://schemas.openxmlformats.org/drawingml/2006/main">
              <a:ext uri="{FF2B5EF4-FFF2-40B4-BE49-F238E27FC236}">
                <a16:creationId xmlns:a16="http://schemas.microsoft.com/office/drawing/2014/main" id="{AF342BB6-9C2D-45A7-B6EA-6F53E8B39135}"/>
              </a:ext>
            </a:extLst>
          </p:cNvPr>
          <p:cNvSpPr>
            <a:spLocks xmlns:a="http://schemas.openxmlformats.org/drawingml/2006/main" noGrp="1"/>
          </p:cNvSpPr>
          <p:nvPr/>
        </p:nvSpPr>
        <p:spPr>
          <a:xfrm xmlns:a="http://schemas.openxmlformats.org/drawingml/2006/main">
            <a:off x="6096000" y="4886325"/>
            <a:ext cx="5000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80" b="0">
                <a:solidFill>
                  <a:srgbClr val="142434"/>
                </a:solidFill>
                <a:latin typeface="Aptos"/>
                <a:ea typeface="Aptos"/>
                <a:cs typeface="Aptos"/>
              </a:defRPr>
            </a:pPr>
            <a:r>
              <a:rPr sz="1380" b="0">
                <a:solidFill>
                  <a:srgbClr val="142434"/>
                </a:solidFill>
                <a:latin typeface="Aptos"/>
                <a:ea typeface="Aptos"/>
                <a:cs typeface="Aptos"/>
              </a:rPr>
              <a:t>10 Compare a safety-only pass with a target-size-gated variant.</a:t>
            </a:r>
          </a:p>
        </p:txBody>
      </p:sp>
      <p:sp>
        <p:nvSpPr>
          <p:cNvPr id="13" name="">
            <a:extLst xmlns:a="http://schemas.openxmlformats.org/drawingml/2006/main">
              <a:ext uri="{FF2B5EF4-FFF2-40B4-BE49-F238E27FC236}">
                <a16:creationId xmlns:a16="http://schemas.microsoft.com/office/drawing/2014/main" id="{CEC9D379-1810-4EFA-9532-7FC6E805C781}"/>
              </a:ext>
            </a:extLst>
          </p:cNvPr>
          <p:cNvSpPr>
            <a:spLocks xmlns:a="http://schemas.openxmlformats.org/drawingml/2006/main" noGrp="1"/>
          </p:cNvSpPr>
          <p:nvPr/>
        </p:nvSpPr>
        <p:spPr>
          <a:xfrm xmlns:a="http://schemas.openxmlformats.org/drawingml/2006/main">
            <a:off x="714375" y="59721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426070"/>
                </a:solidFill>
                <a:latin typeface="Aptos"/>
                <a:ea typeface="Aptos"/>
                <a:cs typeface="Aptos"/>
              </a:defRPr>
            </a:pPr>
            <a:r>
              <a:rPr sz="1050" b="0">
                <a:solidFill>
                  <a:srgbClr val="426070"/>
                </a:solidFill>
                <a:latin typeface="Aptos"/>
                <a:ea typeface="Aptos"/>
                <a:cs typeface="Aptos"/>
              </a:rPr>
              <a:t>Proposed combination and evaluation choices; no first-ever claim.</a:t>
            </a:r>
          </a:p>
        </p:txBody>
      </p:sp>
    </p:spTree>
    <p:extLst>
      <p:ext uri="{BB962C8B-B14F-4D97-AF65-F5344CB8AC3E}">
        <p14:creationId xmlns:p14="http://schemas.microsoft.com/office/powerpoint/2010/main" val="783598508"/>
      </p:ext>
    </p:extLst>
  </p:cSld>
</p:sld>
</file>

<file path=ppt/slides/slide11.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66F3B3-C231-4ACD-818A-84334A3A907D}"/>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Validation plan and expected outcomes</a:t>
            </a:r>
          </a:p>
        </p:txBody>
      </p:sp>
      <p:sp>
        <p:nvSpPr>
          <p:cNvPr id="2" name="">
            <a:extLst xmlns:a="http://schemas.openxmlformats.org/drawingml/2006/main">
              <a:ext uri="{FF2B5EF4-FFF2-40B4-BE49-F238E27FC236}">
                <a16:creationId xmlns:a16="http://schemas.microsoft.com/office/drawing/2014/main" id="{741D1822-74ED-4C84-9CC9-C5CD496831D0}"/>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5BF6A62C-BF2F-4B73-82D9-DCFF3C6D3A17}"/>
              </a:ext>
            </a:extLst>
          </p:cNvPr>
          <p:cNvSpPr>
            <a:spLocks xmlns:a="http://schemas.openxmlformats.org/drawingml/2006/main" noGrp="1"/>
          </p:cNvSpPr>
          <p:nvPr/>
        </p:nvSpPr>
        <p:spPr>
          <a:xfrm xmlns:a="http://schemas.openxmlformats.org/drawingml/2006/main">
            <a:off x="714375" y="13906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006E74"/>
                </a:solidFill>
                <a:latin typeface="Aptos"/>
                <a:ea typeface="Aptos"/>
                <a:cs typeface="Aptos"/>
              </a:defRPr>
            </a:pPr>
            <a:r>
              <a:rPr sz="1500" b="0">
                <a:solidFill>
                  <a:srgbClr val="006E74"/>
                </a:solidFill>
                <a:latin typeface="Aptos"/>
                <a:ea typeface="Aptos"/>
                <a:cs typeface="Aptos"/>
              </a:rPr>
              <a:t>Correctness: LLVM verifier, focused positive/negative IR tests, and differential execution.</a:t>
            </a:r>
          </a:p>
        </p:txBody>
      </p:sp>
      <p:sp>
        <p:nvSpPr>
          <p:cNvPr id="4" name="">
            <a:extLst xmlns:a="http://schemas.openxmlformats.org/drawingml/2006/main">
              <a:ext uri="{FF2B5EF4-FFF2-40B4-BE49-F238E27FC236}">
                <a16:creationId xmlns:a16="http://schemas.microsoft.com/office/drawing/2014/main" id="{B474F78D-47E8-44A8-950C-24BE238B284B}"/>
              </a:ext>
            </a:extLst>
          </p:cNvPr>
          <p:cNvSpPr>
            <a:spLocks xmlns:a="http://schemas.openxmlformats.org/drawingml/2006/main" noGrp="1"/>
          </p:cNvSpPr>
          <p:nvPr/>
        </p:nvSpPr>
        <p:spPr>
          <a:xfrm xmlns:a="http://schemas.openxmlformats.org/drawingml/2006/main">
            <a:off x="714375" y="2143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Coverage: accepted widths, skipped objects, and reasons for rejection.</a:t>
            </a:r>
          </a:p>
        </p:txBody>
      </p:sp>
      <p:sp>
        <p:nvSpPr>
          <p:cNvPr id="5" name="">
            <a:extLst xmlns:a="http://schemas.openxmlformats.org/drawingml/2006/main">
              <a:ext uri="{FF2B5EF4-FFF2-40B4-BE49-F238E27FC236}">
                <a16:creationId xmlns:a16="http://schemas.microsoft.com/office/drawing/2014/main" id="{7FC9865F-063D-4418-BE87-0C0F07EB0F2C}"/>
              </a:ext>
            </a:extLst>
          </p:cNvPr>
          <p:cNvSpPr>
            <a:spLocks xmlns:a="http://schemas.openxmlformats.org/drawingml/2006/main" noGrp="1"/>
          </p:cNvSpPr>
          <p:nvPr/>
        </p:nvSpPr>
        <p:spPr>
          <a:xfrm xmlns:a="http://schemas.openxmlformats.org/drawingml/2006/main">
            <a:off x="714375" y="28956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Resource evidence: report declared IR width and target allocation size separately.</a:t>
            </a:r>
          </a:p>
        </p:txBody>
      </p:sp>
      <p:sp>
        <p:nvSpPr>
          <p:cNvPr id="6" name="">
            <a:extLst xmlns:a="http://schemas.openxmlformats.org/drawingml/2006/main">
              <a:ext uri="{FF2B5EF4-FFF2-40B4-BE49-F238E27FC236}">
                <a16:creationId xmlns:a16="http://schemas.microsoft.com/office/drawing/2014/main" id="{0D78D242-EF7E-4C57-A0D6-BE15C4297C8A}"/>
              </a:ext>
            </a:extLst>
          </p:cNvPr>
          <p:cNvSpPr>
            <a:spLocks xmlns:a="http://schemas.openxmlformats.org/drawingml/2006/main" noGrp="1"/>
          </p:cNvSpPr>
          <p:nvPr/>
        </p:nvSpPr>
        <p:spPr>
          <a:xfrm xmlns:a="http://schemas.openxmlformats.org/drawingml/2006/main">
            <a:off x="714375" y="36480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Secondary evidence: executable size and runtime under identical baseline settings.</a:t>
            </a:r>
          </a:p>
        </p:txBody>
      </p:sp>
      <p:sp>
        <p:nvSpPr>
          <p:cNvPr id="7" name="">
            <a:extLst xmlns:a="http://schemas.openxmlformats.org/drawingml/2006/main">
              <a:ext uri="{FF2B5EF4-FFF2-40B4-BE49-F238E27FC236}">
                <a16:creationId xmlns:a16="http://schemas.microsoft.com/office/drawing/2014/main" id="{4EDDB8DD-C9A7-4DB4-885F-C88EED0B7E9B}"/>
              </a:ext>
            </a:extLst>
          </p:cNvPr>
          <p:cNvSpPr>
            <a:spLocks xmlns:a="http://schemas.openxmlformats.org/drawingml/2006/main" noGrp="1"/>
          </p:cNvSpPr>
          <p:nvPr/>
        </p:nvSpPr>
        <p:spPr>
          <a:xfrm xmlns:a="http://schemas.openxmlformats.org/drawingml/2006/main">
            <a:off x="714375" y="44005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Expected deliverables: LLVM 18 prototype, reproducible test cases, and a bounded evaluation.</a:t>
            </a:r>
          </a:p>
        </p:txBody>
      </p:sp>
      <p:sp>
        <p:nvSpPr>
          <p:cNvPr id="8" name="">
            <a:extLst xmlns:a="http://schemas.openxmlformats.org/drawingml/2006/main">
              <a:ext uri="{FF2B5EF4-FFF2-40B4-BE49-F238E27FC236}">
                <a16:creationId xmlns:a16="http://schemas.microsoft.com/office/drawing/2014/main" id="{736FDAD2-5BC3-440E-8A0D-7DB590C0F911}"/>
              </a:ext>
            </a:extLst>
          </p:cNvPr>
          <p:cNvSpPr>
            <a:spLocks xmlns:a="http://schemas.openxmlformats.org/drawingml/2006/main" noGrp="1"/>
          </p:cNvSpPr>
          <p:nvPr/>
        </p:nvSpPr>
        <p:spPr>
          <a:xfrm xmlns:a="http://schemas.openxmlformats.org/drawingml/2006/main">
            <a:off x="714375" y="51530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No speedup or universal memory saving is assumed; null results will be reported.</a:t>
            </a:r>
          </a:p>
        </p:txBody>
      </p:sp>
    </p:spTree>
    <p:extLst>
      <p:ext uri="{BB962C8B-B14F-4D97-AF65-F5344CB8AC3E}">
        <p14:creationId xmlns:p14="http://schemas.microsoft.com/office/powerpoint/2010/main" val="383157396"/>
      </p:ext>
    </p:extLst>
  </p:cSld>
</p:sld>
</file>

<file path=ppt/slides/slide12.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15FEF4-19A7-4EA5-8DA0-4B1BE86F3387}"/>
              </a:ext>
            </a:extLst>
          </p:cNvPr>
          <p:cNvSpPr>
            <a:spLocks xmlns:a="http://schemas.openxmlformats.org/drawingml/2006/main" noGrp="1"/>
          </p:cNvSpPr>
          <p:nvPr/>
        </p:nvSpPr>
        <p:spPr>
          <a:xfrm xmlns:a="http://schemas.openxmlformats.org/drawingml/2006/main">
            <a:off x="666750" y="4191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625" b="1">
                <a:solidFill>
                  <a:srgbClr val="142434"/>
                </a:solidFill>
                <a:latin typeface="Aptos"/>
                <a:ea typeface="Aptos"/>
                <a:cs typeface="Aptos"/>
              </a:defRPr>
            </a:pPr>
            <a:r>
              <a:rPr sz="2625" b="1">
                <a:solidFill>
                  <a:srgbClr val="142434"/>
                </a:solidFill>
                <a:latin typeface="Aptos"/>
                <a:ea typeface="Aptos"/>
                <a:cs typeface="Aptos"/>
              </a:rPr>
              <a:t>Review 1 plan and faculty questions</a:t>
            </a:r>
          </a:p>
        </p:txBody>
      </p:sp>
      <p:sp>
        <p:nvSpPr>
          <p:cNvPr id="2" name="">
            <a:extLst xmlns:a="http://schemas.openxmlformats.org/drawingml/2006/main">
              <a:ext uri="{FF2B5EF4-FFF2-40B4-BE49-F238E27FC236}">
                <a16:creationId xmlns:a16="http://schemas.microsoft.com/office/drawing/2014/main" id="{EDE818EF-253B-47F5-B2F3-230CE45809CE}"/>
              </a:ext>
            </a:extLst>
          </p:cNvPr>
          <p:cNvSpPr>
            <a:spLocks xmlns:a="http://schemas.openxmlformats.org/drawingml/2006/main" noGrp="1"/>
          </p:cNvSpPr>
          <p:nvPr/>
        </p:nvSpPr>
        <p:spPr>
          <a:xfrm xmlns:a="http://schemas.openxmlformats.org/drawingml/2006/main">
            <a:off x="109537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426070"/>
                </a:solidFill>
                <a:latin typeface="Aptos"/>
                <a:ea typeface="Aptos"/>
                <a:cs typeface="Aptos"/>
              </a:defRPr>
            </a:pPr>
            <a:r>
              <a:rPr sz="1200" b="0">
                <a:solidFill>
                  <a:srgbClr val="426070"/>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2CE8EF22-8DBD-43B7-B280-B0A6C45E8FDA}"/>
              </a:ext>
            </a:extLst>
          </p:cNvPr>
          <p:cNvSpPr>
            <a:spLocks xmlns:a="http://schemas.openxmlformats.org/drawingml/2006/main" noGrp="1"/>
          </p:cNvSpPr>
          <p:nvPr/>
        </p:nvSpPr>
        <p:spPr>
          <a:xfrm xmlns:a="http://schemas.openxmlformats.org/drawingml/2006/main">
            <a:off x="714375" y="13906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006E74"/>
                </a:solidFill>
                <a:latin typeface="Aptos"/>
                <a:ea typeface="Aptos"/>
                <a:cs typeface="Aptos"/>
              </a:defRPr>
            </a:pPr>
            <a:r>
              <a:rPr sz="1500" b="0">
                <a:solidFill>
                  <a:srgbClr val="006E74"/>
                </a:solidFill>
                <a:latin typeface="Aptos"/>
                <a:ea typeface="Aptos"/>
                <a:cs typeface="Aptos"/>
              </a:rPr>
              <a:t>Now: reconcile the original ten papers and finish the 30-paper survey.</a:t>
            </a:r>
          </a:p>
        </p:txBody>
      </p:sp>
      <p:sp>
        <p:nvSpPr>
          <p:cNvPr id="4" name="">
            <a:extLst xmlns:a="http://schemas.openxmlformats.org/drawingml/2006/main">
              <a:ext uri="{FF2B5EF4-FFF2-40B4-BE49-F238E27FC236}">
                <a16:creationId xmlns:a16="http://schemas.microsoft.com/office/drawing/2014/main" id="{A4D12A74-70E2-405F-BDE8-0FB23BCEF836}"/>
              </a:ext>
            </a:extLst>
          </p:cNvPr>
          <p:cNvSpPr>
            <a:spLocks xmlns:a="http://schemas.openxmlformats.org/drawingml/2006/main" noGrp="1"/>
          </p:cNvSpPr>
          <p:nvPr/>
        </p:nvSpPr>
        <p:spPr>
          <a:xfrm xmlns:a="http://schemas.openxmlformats.org/drawingml/2006/main">
            <a:off x="714375" y="2143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Next: implement candidate analysis, guarded rewrite, and IR verification.</a:t>
            </a:r>
          </a:p>
        </p:txBody>
      </p:sp>
      <p:sp>
        <p:nvSpPr>
          <p:cNvPr id="5" name="">
            <a:extLst xmlns:a="http://schemas.openxmlformats.org/drawingml/2006/main">
              <a:ext uri="{FF2B5EF4-FFF2-40B4-BE49-F238E27FC236}">
                <a16:creationId xmlns:a16="http://schemas.microsoft.com/office/drawing/2014/main" id="{5EF0BA2A-23DF-4FC8-B13D-1E218B11EC8E}"/>
              </a:ext>
            </a:extLst>
          </p:cNvPr>
          <p:cNvSpPr>
            <a:spLocks xmlns:a="http://schemas.openxmlformats.org/drawingml/2006/main" noGrp="1"/>
          </p:cNvSpPr>
          <p:nvPr/>
        </p:nvSpPr>
        <p:spPr>
          <a:xfrm xmlns:a="http://schemas.openxmlformats.org/drawingml/2006/main">
            <a:off x="714375" y="28956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Then: run controlled baseline comparisons and inspect rejected cases.</a:t>
            </a:r>
          </a:p>
        </p:txBody>
      </p:sp>
      <p:sp>
        <p:nvSpPr>
          <p:cNvPr id="6" name="">
            <a:extLst xmlns:a="http://schemas.openxmlformats.org/drawingml/2006/main">
              <a:ext uri="{FF2B5EF4-FFF2-40B4-BE49-F238E27FC236}">
                <a16:creationId xmlns:a16="http://schemas.microsoft.com/office/drawing/2014/main" id="{87B6FBBA-438A-4D08-947C-27D0A5C93377}"/>
              </a:ext>
            </a:extLst>
          </p:cNvPr>
          <p:cNvSpPr>
            <a:spLocks xmlns:a="http://schemas.openxmlformats.org/drawingml/2006/main" noGrp="1"/>
          </p:cNvSpPr>
          <p:nvPr/>
        </p:nvSpPr>
        <p:spPr>
          <a:xfrm xmlns:a="http://schemas.openxmlformats.org/drawingml/2006/main">
            <a:off x="714375" y="36480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Likely question — Why not SROA? SROA promotes or splits; this study targets surviving object storage widths.</a:t>
            </a:r>
          </a:p>
        </p:txBody>
      </p:sp>
      <p:sp>
        <p:nvSpPr>
          <p:cNvPr id="7" name="">
            <a:extLst xmlns:a="http://schemas.openxmlformats.org/drawingml/2006/main">
              <a:ext uri="{FF2B5EF4-FFF2-40B4-BE49-F238E27FC236}">
                <a16:creationId xmlns:a16="http://schemas.microsoft.com/office/drawing/2014/main" id="{1BB700C9-B6E5-4C77-A99B-BE109DF97330}"/>
              </a:ext>
            </a:extLst>
          </p:cNvPr>
          <p:cNvSpPr>
            <a:spLocks xmlns:a="http://schemas.openxmlformats.org/drawingml/2006/main" noGrp="1"/>
          </p:cNvSpPr>
          <p:nvPr/>
        </p:nvSpPr>
        <p:spPr>
          <a:xfrm xmlns:a="http://schemas.openxmlformats.org/drawingml/2006/main">
            <a:off x="714375" y="44005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Likely question — Why might i32→i8 not help? Padding, alignment, and target lowering can remove the saving.</a:t>
            </a:r>
          </a:p>
        </p:txBody>
      </p:sp>
      <p:sp>
        <p:nvSpPr>
          <p:cNvPr id="8" name="">
            <a:extLst xmlns:a="http://schemas.openxmlformats.org/drawingml/2006/main">
              <a:ext uri="{FF2B5EF4-FFF2-40B4-BE49-F238E27FC236}">
                <a16:creationId xmlns:a16="http://schemas.microsoft.com/office/drawing/2014/main" id="{985EA06D-6FE3-415D-A59F-40C8D2A2EAFA}"/>
              </a:ext>
            </a:extLst>
          </p:cNvPr>
          <p:cNvSpPr>
            <a:spLocks xmlns:a="http://schemas.openxmlformats.org/drawingml/2006/main" noGrp="1"/>
          </p:cNvSpPr>
          <p:nvPr/>
        </p:nvSpPr>
        <p:spPr>
          <a:xfrm xmlns:a="http://schemas.openxmlformats.org/drawingml/2006/main">
            <a:off x="714375" y="51530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42434"/>
                </a:solidFill>
                <a:latin typeface="Aptos"/>
                <a:ea typeface="Aptos"/>
                <a:cs typeface="Aptos"/>
              </a:defRPr>
            </a:pPr>
            <a:r>
              <a:rPr sz="1500" b="0">
                <a:solidFill>
                  <a:srgbClr val="142434"/>
                </a:solidFill>
                <a:latin typeface="Aptos"/>
                <a:ea typeface="Aptos"/>
                <a:cs typeface="Aptos"/>
              </a:rPr>
              <a:t>Likely question — What if safety cannot be proved? Keep the original object unchanged.</a:t>
            </a:r>
          </a:p>
        </p:txBody>
      </p:sp>
    </p:spTree>
    <p:extLst>
      <p:ext uri="{BB962C8B-B14F-4D97-AF65-F5344CB8AC3E}">
        <p14:creationId xmlns:p14="http://schemas.microsoft.com/office/powerpoint/2010/main" val="1382983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2026-09-23T13:09:05.1790000Z</dcterms:created>
  <dcterms:modified xsi:type="dcterms:W3CDTF">2026-09-23T13:09:05.1790000Z</dcterms:modified>
</coreProperties>
</file>